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77" r:id="rId19"/>
    <p:sldId id="278" r:id="rId20"/>
    <p:sldId id="279" r:id="rId21"/>
    <p:sldId id="280" r:id="rId22"/>
    <p:sldId id="281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774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914400"/>
            <a:ext cx="3474720" cy="3474720"/>
          </a:xfrm>
          <a:prstGeom prst="ellipse">
            <a:avLst/>
          </a:prstGeom>
          <a:solidFill>
            <a:srgbClr val="2D3F6B">
              <a:alpha val="40000"/>
            </a:srgbClr>
          </a:solidFill>
          <a:ln w="12700">
            <a:solidFill>
              <a:srgbClr val="2D3F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194560" cy="2194560"/>
          </a:xfrm>
          <a:prstGeom prst="ellipse">
            <a:avLst/>
          </a:prstGeom>
          <a:solidFill>
            <a:srgbClr val="0A7EA4">
              <a:alpha val="30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PARTICIPANT TESTIMONIALS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Voices of</a:t>
            </a:r>
            <a:endParaRPr lang="en-US" sz="4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340156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stories. Real shifts. Real impact.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411480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0A7EA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1148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LFEF • CXO • Transforming Self • Quantum Laws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Harshal Shah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Company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(Websites, eCommerce &amp; Digital Marketing)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– Leading from the Future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listening — truly hearing people from the heart unlocks far more than surface-level conversation.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culture: organizations transform when people can speak openly, not just make 'sweet talk'.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fast, you must go slow — slowing down leads to better, more considered decisions.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0A7EA4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"If you listen to people from the heart, you get to know a lot many things and can transform organizations better."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Sanjay Chaturvedi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Sales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Touch Technologies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(28-year System Integrator)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– Leading from the Future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listening: learning to observe and understand a situation from multiple perspectives before responding.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walk — stepping into others' shoes to understand their feelings before making decisions.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meetings: one-on-one sessions to truly understand what stakeholders expect from you.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44368" y="3072384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22" name="Text 20"/>
          <p:cNvSpPr/>
          <p:nvPr/>
        </p:nvSpPr>
        <p:spPr>
          <a:xfrm>
            <a:off x="2944368" y="30723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3026664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clinic: listening from the heart, setting the brain aside, to co-discover real solutions.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80360" y="3877056"/>
            <a:ext cx="6080760" cy="1101852"/>
          </a:xfrm>
          <a:prstGeom prst="rect">
            <a:avLst/>
          </a:prstGeom>
          <a:solidFill>
            <a:srgbClr val="0A7EA4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880360" y="3877056"/>
            <a:ext cx="54864" cy="1101852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26" name="Text 24"/>
          <p:cNvSpPr/>
          <p:nvPr/>
        </p:nvSpPr>
        <p:spPr>
          <a:xfrm>
            <a:off x="3035808" y="3968496"/>
            <a:ext cx="580644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culture shift is: when you face a problem, park your reaction, think with a peaceful mind, and you arrive at a better solution."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Raboti Biswas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 President – Enterprise Solutions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Industry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– Leading from the Future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U provided a fresh framework for leadership that is both practical and transformational.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Egocentric to ecocentric thinking: a fundamental shift in how leaders approach decisions and teams.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theory: seeing below the surface of problems to understand their deeper roots.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0A7EA4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couple of days workshop gave me quite a lot of knowledge which I will share with team members — together it will make a difference in the entire organization."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Rasesh Jani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Professional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Industry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– Leading from the Future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Judgment: becoming conscious of when our brain's automatic responses override clearer thinking.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clinic: a powerful exercise where peers help you see your problems from entirely new angles.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 benefits both professional success and personal life — a holistic transformation.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0A7EA4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"During the case clinic journey, I understood that my problems are not the actual problem — you can solve them in a different way."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Jignesh Panchal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General Manager – Sales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Unipack Plastic Machinery Pvt. Ltd.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– Leading from the Future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listening as a core strength: understanding people deeply leads to better problem-solving.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walk: connecting with people at a heart level, not just intellectually.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interviews: gaining clarity on objectives — yours and others' — to align for the future.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0A7EA4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"These tools will help team members, relatives, and anyone we connect with — and will help us grow both as a company and as individuals."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P.R. 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Leader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Varuna Pumps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(100% subsidiary of Kirloskar Oil Engineers)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Workshop – February 2024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listening as the most important skill: becoming aware of the moments when we stop truly listening.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and mindset when listening to others — setting aside preoccupations before engaging.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decisions with your higher objective: linking actions to the bigger purpose.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0A7EA4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"Being aware and observing the moments when we actually do not listen was the most profound learning of this session."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Mahendra Kumar Yadav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&amp; Infrastructure Industry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Workshop – February 2024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ego-system to eco-system: a paradigm shift in how a leader sees their role and impact.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out of your head: most learning comes from the outside, but we are often trapped inside.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and patience: truly listening, thinking, then responding — a transformative practice.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0A7EA4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"Until now if someone spoke, we would keep going without listening. After this program, we understood that being silent, thinking, and then replying is a very big thing."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Nilesh Surana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Consultant &amp; Business Owner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Consultancy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Chhatrapati Sambhaji Nagar (Aurangabad)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Workshop – February 2024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Eco-thinking: the more perspectives you include, the bigger the collective accomplishments.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the future, not the past: letting go of old patterns to sense emerging possibilities.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culture where great people want to work — the purpose of the organization over departments.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0A7EA4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should not divide by departments — we all have come together to fulfill the company's purpose. This learning was very unique."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Shaher Mohammad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Professional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&amp; Infrastructure Industry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Workshop – February 2024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beings are not designed to listen — yet if you don't listen, you cannot add value.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stakeholders as a source, not a resource: they bring new ideas, not just task fulfillment.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culture: when everyone listens and speaks openly, innovation and great ideas emerge.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0A7EA4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"Consider every stakeholder as a source — not a resource — and you will get new, multiple ideas."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Sandeep Singh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Leader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&amp; Infrastructure Industry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Workshop – February 2024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behind every success or failure is a hidden structure — learning to see and change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Zero-follow organization: building teams where no follow-up is needed with subordinates or vendors.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interviews: stepping into the stakeholder's perspective for exponential growth.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0A7EA4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"If we go into the stakeholder's shoes and think from their thoughts, the exponential growth we can find is multiple-fold."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Viral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Professional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Industry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Workshop – February 2024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listening in meetings: focus fully, then respond thoughtfully rather than react immediately.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crore realities: every person operates from their own truth — true connection bridges these worlds.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vs. resource: employees and team members are partners and sources of ideas, not machines.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0A7EA4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"Our employee and team member should not be treated as a resource — we need to treat them as a source, because a resource is a machine and a source is our partner."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S. Solanki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Professional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Kirloskar Oil Engines Limited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Workshop – February 2024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egocentric to ecocentric leadership: a foundational mindset shift for leaders.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 Process: observe → retreat &amp; reflect → prototype → apply → iterate. A cycle of emerging leadership.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0A7EA4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walk with stakeholders: structured conversations to truly know the people you work with.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0A7EA4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0A7EA4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"By this iterative way, we emerge the future in our current requirements."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Gavya Mehta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Professional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Delhi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Self – April 2023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go of self-doubt: the old self was too hard on itself, always punishing for unmet expectations.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more supportive, appreciative, and confident — replacing self-criticism with self-compassion.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intention: creating an inclusive world where people feel emotionally safe and supported.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E05C5C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new me has the intention of creating an inclusive world where people feel emotionally safe and supported."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Basava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Enterprise, Davangere, Karnataka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Self – April 2023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Dying to the past: releasing egoistic thoughts to make way for a genuinely new self.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leadership: moving from ego-driven leadership to a more inclusive, human approach.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Co-creation: partnering with like-minded people to build a more humane society.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E05C5C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"Old Basava died here and new thoughts, new visions, new insights are born — I will co-create with all other like-minded people."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Vijay Kumar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Self – April 2023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'me-focus' to higher purpose: shifting from 24/7 self-concern to a larger mission.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a higher purpose: creating peace on the planet — for every country, city, and child.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transformation: a new version of self, born out of purposeful reflection.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E05C5C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I got from this workshop is what is my higher purpose — and I found it: to create peace on the planet where everybody lives in peace."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Siddharth Surana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Entrpreneur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&amp; </a:t>
            </a:r>
            <a:r>
              <a:rPr lang="en-US" sz="10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Jewellery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Industry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Self – April 2023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victim to leader: shedding the identity of someone hiding behind excuses.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responsibility: no longer blaming others — owning one's life with full intention.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leader is born: walking out of the workshop with a clear sense of purpose and agency.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E05C5C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person who entered the workshop was a victim hiding behind excuses. The one who came out is a leader with intention for life."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Kanika Gupta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Ophthalmologist &amp; Healer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Cataract &amp; Anterior Segment Surgeon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Laws of Leadership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perspective: broke through a deep block in communication and personal growth.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and empathy: discovering a new depth of listening that goes beyond habit or assumption.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from the emerging future: understanding that true empathy means co-creating, not reacting.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never created from the emerging future — I never saw it that way. And that was such a huge block in my communication. This was fantastic."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Niyati Kala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 &amp; Mediator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Professional / Service Programs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Laws of Leadership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U as a complement: the program sharpened and expanded practices already underway.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stakeholders: moving from assumptions to genuine outreach with those we take for granted.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in others' shoes: genuinely listening vs. playing back one's own internal 'recording'.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ability to reach out to more people in my world — people I tend to take for granted — and genuinely listen to them versus my own recording was enormously helpful."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Amitava Ghosh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Ex-CEO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Group Company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(Also led AppTech &amp; Asparta)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Laws of Leadership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with Dr. Manoj Onkar has been a learning experience — this workshop was no different.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better world: reducing the eco-divide, social divide, and spiritual divide in organizations.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recommendation: this program benefits individuals and organizations across all functions and levels.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workshop has been a fantastic one — an eye-opener and a step towards creating a better world with lesser eco, social, and spiritual divide."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Hari Rajan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Data Center Company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California, USA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Laws of Leadership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stagnant? The program gave clarity on next steps and a pathway forward.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collaboration: empathy walks and stakeholder interviews as practical instruments.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beyond personalities: understanding systems rather than getting lost in individual dynamics.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see how I am changing from the past — not carrying all those baggages — and moving into the emerging future."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Mohak Patel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&amp; Entrepreneur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Purification Business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Laws of Leadership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listening: developing genuine interest and patience for every person encountered.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work culture: inspired by the possibility of people bringing their souls — not just bodies — to work.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impact: seeing how inner shifts in leadership can create exponential business results.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C9A84C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"I'm really inspired by the possibility I see now — of people bringing their souls to the office, not just their bodies. That is a quantum impact on business performance."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 Krishna Rao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– Education Initiative India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 India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(French Multinational)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LFEF Alumni Sharing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3A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 to eco: becoming more sensitive to stakeholder needs, co-creating solutions that work for everyone.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go of fear: recognizing fears clearly and releasing them to open up to new ideas.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selling to partnering: transformed the education business from a sales approach to co-creating with academia.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3A6B9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"My patience improved and my ability to sense new possibilities that want to emerge has expanded. I am able to recognize my fears more clearly and by letting go, I'm open to new ideas."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Sanjay Kumar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Company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Delhi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LFEF Alumni Sharing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3A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the emerging future: using insight-driven decision making instead of past patterns alone.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Extraordinary results: applying Theory U tools daily in business and personal life.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relationships: deeper connection with team, clients, family, and spouse.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3A6B9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"After completing this program I got an idea about how to learn from the emerging future. When there is any doubt, I put it aside and think — what can I learn from what wants to emerge? The results are extraordinary."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Pranay Kumar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Environment Entrepreneur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Vasuda Projects &amp; Asma Energy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LFEF Alumni Sharing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3A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in listening: discovered Level 3 and 4 listening through the empathy walk with his wife.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others: empowered people during COVID and launched three new sustainability projects.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Co-leadership at home: deep listening revealed his wife's strengths, leading him to make her lead sales.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3A6B9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"Because of deep listening, I found out I am not a very good sales person — she is. I told her: you lead the sales. I will be your assistant."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Usha Kulkarni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Leader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 in Healthcare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across India, Nepal &amp; Ethiopia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LFEF Alumni Sharing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3A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distinctions: empathy walk, stakeholder meeting, and the shift from ego to eco.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a dying dialysis unit in Ethiopia from a unit about to be closed to one of the best in the region.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leadership in action: a team aligned around a shared vision created lasting impact — even through civil war.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3A6B9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"It's nothing about me as an ego — it is completely eco. Even today, sections of the hospital were looted — except the dialysis unit. It still holds the space of healing and compassion."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Chaitanya Iyengar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Consultant &amp; Entrepreneur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in London, UK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(Originally from India)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LFEF Alumni Sharing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3A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17 questions: deeply understanding 'who am I?' led to creating himself as 'love, leadership and contribution'.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VC Fund (Roller Ventures): investing in purpose-driven entrepreneurs solving meaningful problems.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Reinvented his marketing practice: now helping businesses create purpose-driven brands, not just growth.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3A6B9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started off as a spark of an idea is now becoming a reality. We set up the company for the fund and launched our website — to invest in purpose-driven entrepreneurs who are committed to solving meaningful problems in the world."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Jayeshri Kunju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Chartered Accountant &amp; CEO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iBas Global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 Business Leadership Coaching)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LFEF Alumni Sharing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3A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her purpose: 'a life that works for all' — ending the fragmentation of passions.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initiative: 1,830 members joined, providing food and dignity during COVID — 99.99% funds directly to recipients.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boundaries: from India-only focus to feeding 300 Kenyan refugees weekly for over a year.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3A6B9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feel limitless right now. My boundaries have opened up — the moment I opened up, I've been resourceful to feed a group of Kenyan refugees, and every week about 300 people get food, clothes, and dignity."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Shraddha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Professional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LFEF Alumni Sharing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3A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Theory U with graduate trainees: gave 80% of the speaking space to them, holding only 20%.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emerge: her one guiding principle led to trainees discovering their own innovative solutions.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her team of six trainees won first prize among all Schneider Electric batches that year.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3A6B9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said to myself: I don't want to know what the result is — let it emerge. That kept me going. And the result was that they topped amongst all trainees."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Sheila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&amp; Life Coach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LFEF Alumni Sharing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3A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transformed — first to herself: releasing the inner 'chatterbox' and self-imposed limits.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cocoon to impact: stepping out and speaking up, even when feeling too small to matter.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Mobilised her community: a single WhatsApp message raised ₹1,20,000 in 48 hours for a colleague's surgery.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3A6B9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"Actually, if you come to see it — I didn't do anything. I just took a step and started speaking. I came out of my barrier about speaking to the entire community. And money just started pouring in."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9184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Melvin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14813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 &amp; Coach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" y="19202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LFEF Community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283464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" y="4617720"/>
            <a:ext cx="26517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LFEF Alumni Sharing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0"/>
            <a:ext cx="6309360" cy="502920"/>
          </a:xfrm>
          <a:prstGeom prst="rect">
            <a:avLst/>
          </a:prstGeom>
          <a:solidFill>
            <a:srgbClr val="EF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3A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44368" y="658368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658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6126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on the intention: a principle from Theory U that became the foundation of a digital platform.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44368" y="1463040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habit-tracking app used by 215 paid subscribers — including doctors, advocates, students and parents.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2267712"/>
            <a:ext cx="274320" cy="274320"/>
          </a:xfrm>
          <a:prstGeom prst="ellipse">
            <a:avLst/>
          </a:prstGeom>
          <a:solidFill>
            <a:srgbClr val="3A6B9F"/>
          </a:solidFill>
          <a:ln/>
        </p:spPr>
      </p:sp>
      <p:sp>
        <p:nvSpPr>
          <p:cNvPr id="19" name="Text 17"/>
          <p:cNvSpPr/>
          <p:nvPr/>
        </p:nvSpPr>
        <p:spPr>
          <a:xfrm>
            <a:off x="2944368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2199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outcomes: applied to his wife's recovery, his daughter's career success, and community transformation.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80360" y="3072384"/>
            <a:ext cx="6080760" cy="1906524"/>
          </a:xfrm>
          <a:prstGeom prst="rect">
            <a:avLst/>
          </a:prstGeom>
          <a:solidFill>
            <a:srgbClr val="3A6B9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0360" y="3072384"/>
            <a:ext cx="54864" cy="1906524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23" name="Text 21"/>
          <p:cNvSpPr/>
          <p:nvPr/>
        </p:nvSpPr>
        <p:spPr>
          <a:xfrm>
            <a:off x="3035808" y="3163824"/>
            <a:ext cx="5806440" cy="1723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this program has given me is my life, my passion. I wanted to build something that helps people keep their attention on their intention — and I created that out of nothing."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2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914400"/>
            <a:ext cx="3657600" cy="3657600"/>
          </a:xfrm>
          <a:prstGeom prst="ellipse">
            <a:avLst/>
          </a:prstGeom>
          <a:solidFill>
            <a:srgbClr val="0A7EA4">
              <a:alpha val="12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9144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Story is a Seed</a:t>
            </a:r>
            <a:endParaRPr lang="en-US" sz="3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Possibility.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to all participants for sharing their journeys of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transformation, courage, and leadership.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3931920"/>
            <a:ext cx="27432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1605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LFEF  •  Leadership from the Emerging Future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3156</Words>
  <Application>Microsoft Office PowerPoint</Application>
  <PresentationFormat>On-screen Show (16:9)</PresentationFormat>
  <Paragraphs>417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Voices of Transformation - Participant Sharing</dc:title>
  <dc:subject>PptxGenJS Presentation</dc:subject>
  <dc:creator>PptxGenJS</dc:creator>
  <cp:lastModifiedBy>Manoj Onkar</cp:lastModifiedBy>
  <cp:revision>4</cp:revision>
  <dcterms:created xsi:type="dcterms:W3CDTF">2026-04-09T07:57:22Z</dcterms:created>
  <dcterms:modified xsi:type="dcterms:W3CDTF">2026-04-09T08:40:18Z</dcterms:modified>
</cp:coreProperties>
</file>