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C5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A84C"/>
          </a:solidFill>
          <a:ln/>
        </p:spPr>
      </p:sp>
      <p:sp>
        <p:nvSpPr>
          <p:cNvPr id="3" name="Shape 1"/>
          <p:cNvSpPr/>
          <p:nvPr/>
        </p:nvSpPr>
        <p:spPr>
          <a:xfrm>
            <a:off x="6858000" y="-914400"/>
            <a:ext cx="3657600" cy="3657600"/>
          </a:xfrm>
          <a:prstGeom prst="ellipse">
            <a:avLst/>
          </a:prstGeom>
          <a:solidFill>
            <a:srgbClr val="2D3F6B">
              <a:alpha val="35000"/>
            </a:srgbClr>
          </a:solidFill>
          <a:ln w="12700">
            <a:solidFill>
              <a:srgbClr val="2D3F6B"/>
            </a:solidFill>
            <a:prstDash val="solid"/>
          </a:ln>
        </p:spPr>
      </p:sp>
      <p:sp>
        <p:nvSpPr>
          <p:cNvPr id="4" name="Shape 2"/>
          <p:cNvSpPr/>
          <p:nvPr/>
        </p:nvSpPr>
        <p:spPr>
          <a:xfrm>
            <a:off x="7315200" y="3108960"/>
            <a:ext cx="2286000" cy="2286000"/>
          </a:xfrm>
          <a:prstGeom prst="ellipse">
            <a:avLst/>
          </a:prstGeom>
          <a:solidFill>
            <a:srgbClr val="0A7EA4">
              <a:alpha val="28000"/>
            </a:srgbClr>
          </a:solidFill>
          <a:ln w="12700">
            <a:solidFill>
              <a:srgbClr val="0A7EA4"/>
            </a:solidFill>
            <a:prstDash val="solid"/>
          </a:ln>
        </p:spPr>
      </p:sp>
      <p:sp>
        <p:nvSpPr>
          <p:cNvPr id="5" name="Text 3"/>
          <p:cNvSpPr/>
          <p:nvPr/>
        </p:nvSpPr>
        <p:spPr>
          <a:xfrm>
            <a:off x="502920" y="1051560"/>
            <a:ext cx="6858000" cy="347472"/>
          </a:xfrm>
          <a:prstGeom prst="rect">
            <a:avLst/>
          </a:prstGeom>
          <a:noFill/>
          <a:ln/>
        </p:spPr>
        <p:txBody>
          <a:bodyPr wrap="square" rtlCol="0" anchor="ctr"/>
          <a:lstStyle/>
          <a:p>
            <a:pPr indent="0" marL="0">
              <a:buNone/>
            </a:pPr>
            <a:r>
              <a:rPr lang="en-US" sz="1000" b="1" spc="250" kern="0" dirty="0">
                <a:solidFill>
                  <a:srgbClr val="C9A84C"/>
                </a:solidFill>
                <a:latin typeface="Calibri" pitchFamily="34" charset="0"/>
                <a:ea typeface="Calibri" pitchFamily="34" charset="-122"/>
                <a:cs typeface="Calibri" pitchFamily="34" charset="-120"/>
              </a:rPr>
              <a:t>ALL PARTICIPANT VOICES — COMBINED</a:t>
            </a:r>
            <a:endParaRPr lang="en-US" sz="1000" dirty="0"/>
          </a:p>
        </p:txBody>
      </p:sp>
      <p:sp>
        <p:nvSpPr>
          <p:cNvPr id="6" name="Text 4"/>
          <p:cNvSpPr/>
          <p:nvPr/>
        </p:nvSpPr>
        <p:spPr>
          <a:xfrm>
            <a:off x="502920" y="1417320"/>
            <a:ext cx="7315200" cy="2011680"/>
          </a:xfrm>
          <a:prstGeom prst="rect">
            <a:avLst/>
          </a:prstGeom>
          <a:noFill/>
          <a:ln/>
        </p:spPr>
        <p:txBody>
          <a:bodyPr wrap="square" rtlCol="0" anchor="ctr"/>
          <a:lstStyle/>
          <a:p>
            <a:pPr indent="0" marL="0">
              <a:lnSpc>
                <a:spcPct val="115000"/>
              </a:lnSpc>
              <a:buNone/>
            </a:pPr>
            <a:r>
              <a:rPr lang="en-US" sz="4600" b="1" dirty="0">
                <a:solidFill>
                  <a:srgbClr val="FFFFFF"/>
                </a:solidFill>
                <a:latin typeface="Georgia" pitchFamily="34" charset="0"/>
                <a:ea typeface="Georgia" pitchFamily="34" charset="-122"/>
                <a:cs typeface="Georgia" pitchFamily="34" charset="-120"/>
              </a:rPr>
              <a:t>Leadership from the</a:t>
            </a:r>
            <a:endParaRPr lang="en-US" sz="4600" dirty="0"/>
          </a:p>
          <a:p>
            <a:pPr indent="0" marL="0">
              <a:lnSpc>
                <a:spcPct val="115000"/>
              </a:lnSpc>
              <a:buNone/>
            </a:pPr>
            <a:r>
              <a:rPr lang="en-US" sz="4600" b="1" dirty="0">
                <a:solidFill>
                  <a:srgbClr val="FFFFFF"/>
                </a:solidFill>
                <a:latin typeface="Georgia" pitchFamily="34" charset="0"/>
                <a:ea typeface="Georgia" pitchFamily="34" charset="-122"/>
                <a:cs typeface="Georgia" pitchFamily="34" charset="-120"/>
              </a:rPr>
              <a:t>Emerging Future</a:t>
            </a:r>
            <a:endParaRPr lang="en-US" sz="4600" dirty="0"/>
          </a:p>
        </p:txBody>
      </p:sp>
      <p:sp>
        <p:nvSpPr>
          <p:cNvPr id="7" name="Text 5"/>
          <p:cNvSpPr/>
          <p:nvPr/>
        </p:nvSpPr>
        <p:spPr>
          <a:xfrm>
            <a:off x="502920" y="3456432"/>
            <a:ext cx="6858000" cy="502920"/>
          </a:xfrm>
          <a:prstGeom prst="rect">
            <a:avLst/>
          </a:prstGeom>
          <a:noFill/>
          <a:ln/>
        </p:spPr>
        <p:txBody>
          <a:bodyPr wrap="square" rtlCol="0" anchor="ctr"/>
          <a:lstStyle/>
          <a:p>
            <a:pPr indent="0" marL="0">
              <a:buNone/>
            </a:pPr>
            <a:r>
              <a:rPr lang="en-US" sz="1300" i="1" dirty="0">
                <a:solidFill>
                  <a:srgbClr val="6B7A99"/>
                </a:solidFill>
                <a:latin typeface="Calibri" pitchFamily="34" charset="0"/>
                <a:ea typeface="Calibri" pitchFamily="34" charset="-122"/>
                <a:cs typeface="Calibri" pitchFamily="34" charset="-120"/>
              </a:rPr>
              <a:t>Every voice, every workshop — one unified record of transformation</a:t>
            </a:r>
            <a:endParaRPr lang="en-US" sz="1300" dirty="0"/>
          </a:p>
        </p:txBody>
      </p:sp>
      <p:sp>
        <p:nvSpPr>
          <p:cNvPr id="8" name="Shape 6"/>
          <p:cNvSpPr/>
          <p:nvPr/>
        </p:nvSpPr>
        <p:spPr>
          <a:xfrm>
            <a:off x="502920" y="4224528"/>
            <a:ext cx="5303520" cy="457200"/>
          </a:xfrm>
          <a:prstGeom prst="roundRect">
            <a:avLst>
              <a:gd name="adj" fmla="val 16000"/>
            </a:avLst>
          </a:prstGeom>
          <a:solidFill>
            <a:srgbClr val="0A7EA4"/>
          </a:solidFill>
          <a:ln/>
        </p:spPr>
      </p:sp>
      <p:sp>
        <p:nvSpPr>
          <p:cNvPr id="9" name="Text 7"/>
          <p:cNvSpPr/>
          <p:nvPr/>
        </p:nvSpPr>
        <p:spPr>
          <a:xfrm>
            <a:off x="502920" y="4224528"/>
            <a:ext cx="5303520" cy="4572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Dr. Manoj Onkar  •  LFEF  •  CXO  •  Transforming Self  •  Quantum Laws  •  Kalorex</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4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C5E"/>
          </a:solidFill>
          <a:ln/>
        </p:spPr>
      </p:sp>
      <p:sp>
        <p:nvSpPr>
          <p:cNvPr id="3" name="Text 1"/>
          <p:cNvSpPr/>
          <p:nvPr/>
        </p:nvSpPr>
        <p:spPr>
          <a:xfrm>
            <a:off x="365760" y="0"/>
            <a:ext cx="8229600" cy="621792"/>
          </a:xfrm>
          <a:prstGeom prst="rect">
            <a:avLst/>
          </a:prstGeom>
          <a:noFill/>
          <a:ln/>
        </p:spPr>
        <p:txBody>
          <a:bodyPr wrap="square" rtlCol="0" anchor="ctr"/>
          <a:lstStyle/>
          <a:p>
            <a:pPr indent="0" marL="0">
              <a:buNone/>
            </a:pPr>
            <a:r>
              <a:rPr lang="en-US" sz="1100" b="1" spc="300" kern="0" dirty="0">
                <a:solidFill>
                  <a:srgbClr val="C9A84C"/>
                </a:solidFill>
                <a:latin typeface="Calibri" pitchFamily="34" charset="0"/>
                <a:ea typeface="Calibri" pitchFamily="34" charset="-122"/>
                <a:cs typeface="Calibri" pitchFamily="34" charset="-120"/>
              </a:rPr>
              <a:t>CONTENTS</a:t>
            </a:r>
            <a:endParaRPr lang="en-US" sz="1100" dirty="0"/>
          </a:p>
        </p:txBody>
      </p:sp>
      <p:sp>
        <p:nvSpPr>
          <p:cNvPr id="4" name="Text 2"/>
          <p:cNvSpPr/>
          <p:nvPr/>
        </p:nvSpPr>
        <p:spPr>
          <a:xfrm>
            <a:off x="365760" y="731520"/>
            <a:ext cx="8229600" cy="420624"/>
          </a:xfrm>
          <a:prstGeom prst="rect">
            <a:avLst/>
          </a:prstGeom>
          <a:noFill/>
          <a:ln/>
        </p:spPr>
        <p:txBody>
          <a:bodyPr wrap="square" rtlCol="0" anchor="ctr"/>
          <a:lstStyle/>
          <a:p>
            <a:pPr indent="0" marL="0">
              <a:buNone/>
            </a:pPr>
            <a:r>
              <a:rPr lang="en-US" sz="2200" b="1" dirty="0">
                <a:solidFill>
                  <a:srgbClr val="1B2C5E"/>
                </a:solidFill>
                <a:latin typeface="Georgia" pitchFamily="34" charset="0"/>
                <a:ea typeface="Georgia" pitchFamily="34" charset="-122"/>
                <a:cs typeface="Georgia" pitchFamily="34" charset="-120"/>
              </a:rPr>
              <a:t>All Workshops at a Glance</a:t>
            </a:r>
            <a:endParaRPr lang="en-US" sz="2200" dirty="0"/>
          </a:p>
        </p:txBody>
      </p:sp>
      <p:sp>
        <p:nvSpPr>
          <p:cNvPr id="5" name="Shape 3"/>
          <p:cNvSpPr/>
          <p:nvPr/>
        </p:nvSpPr>
        <p:spPr>
          <a:xfrm>
            <a:off x="320040" y="1298448"/>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6" name="Shape 4"/>
          <p:cNvSpPr/>
          <p:nvPr/>
        </p:nvSpPr>
        <p:spPr>
          <a:xfrm>
            <a:off x="320040" y="1298448"/>
            <a:ext cx="91440" cy="731520"/>
          </a:xfrm>
          <a:prstGeom prst="rect">
            <a:avLst/>
          </a:prstGeom>
          <a:solidFill>
            <a:srgbClr val="0A7EA4"/>
          </a:solidFill>
          <a:ln/>
        </p:spPr>
      </p:sp>
      <p:sp>
        <p:nvSpPr>
          <p:cNvPr id="7" name="Text 5"/>
          <p:cNvSpPr/>
          <p:nvPr/>
        </p:nvSpPr>
        <p:spPr>
          <a:xfrm>
            <a:off x="521208" y="1362456"/>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CXO – Leading from the Future (Apr &amp; Feb 2024)</a:t>
            </a:r>
            <a:endParaRPr lang="en-US" sz="1050" dirty="0"/>
          </a:p>
        </p:txBody>
      </p:sp>
      <p:sp>
        <p:nvSpPr>
          <p:cNvPr id="8" name="Text 6"/>
          <p:cNvSpPr/>
          <p:nvPr/>
        </p:nvSpPr>
        <p:spPr>
          <a:xfrm>
            <a:off x="521208" y="1755648"/>
            <a:ext cx="3886200" cy="219456"/>
          </a:xfrm>
          <a:prstGeom prst="rect">
            <a:avLst/>
          </a:prstGeom>
          <a:noFill/>
          <a:ln/>
        </p:spPr>
        <p:txBody>
          <a:bodyPr wrap="square" rtlCol="0" anchor="ctr"/>
          <a:lstStyle/>
          <a:p>
            <a:pPr indent="0" marL="0">
              <a:buNone/>
            </a:pPr>
            <a:r>
              <a:rPr lang="en-US" sz="1000" b="1" dirty="0">
                <a:solidFill>
                  <a:srgbClr val="0A7EA4"/>
                </a:solidFill>
                <a:latin typeface="Calibri" pitchFamily="34" charset="0"/>
                <a:ea typeface="Calibri" pitchFamily="34" charset="-122"/>
                <a:cs typeface="Calibri" pitchFamily="34" charset="-120"/>
              </a:rPr>
              <a:t>12 Participants</a:t>
            </a:r>
            <a:endParaRPr lang="en-US" sz="1000" dirty="0"/>
          </a:p>
        </p:txBody>
      </p:sp>
      <p:sp>
        <p:nvSpPr>
          <p:cNvPr id="9" name="Shape 7"/>
          <p:cNvSpPr/>
          <p:nvPr/>
        </p:nvSpPr>
        <p:spPr>
          <a:xfrm>
            <a:off x="320040" y="2194560"/>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0" name="Shape 8"/>
          <p:cNvSpPr/>
          <p:nvPr/>
        </p:nvSpPr>
        <p:spPr>
          <a:xfrm>
            <a:off x="320040" y="2194560"/>
            <a:ext cx="91440" cy="731520"/>
          </a:xfrm>
          <a:prstGeom prst="rect">
            <a:avLst/>
          </a:prstGeom>
          <a:solidFill>
            <a:srgbClr val="1A7A5E"/>
          </a:solidFill>
          <a:ln/>
        </p:spPr>
      </p:sp>
      <p:sp>
        <p:nvSpPr>
          <p:cNvPr id="11" name="Text 9"/>
          <p:cNvSpPr/>
          <p:nvPr/>
        </p:nvSpPr>
        <p:spPr>
          <a:xfrm>
            <a:off x="521208" y="2258568"/>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Theory U Alumni – #ThankyouTheoryU (2021)</a:t>
            </a:r>
            <a:endParaRPr lang="en-US" sz="1050" dirty="0"/>
          </a:p>
        </p:txBody>
      </p:sp>
      <p:sp>
        <p:nvSpPr>
          <p:cNvPr id="12" name="Text 10"/>
          <p:cNvSpPr/>
          <p:nvPr/>
        </p:nvSpPr>
        <p:spPr>
          <a:xfrm>
            <a:off x="521208" y="2651760"/>
            <a:ext cx="3886200" cy="219456"/>
          </a:xfrm>
          <a:prstGeom prst="rect">
            <a:avLst/>
          </a:prstGeom>
          <a:noFill/>
          <a:ln/>
        </p:spPr>
        <p:txBody>
          <a:bodyPr wrap="square" rtlCol="0" anchor="ctr"/>
          <a:lstStyle/>
          <a:p>
            <a:pPr indent="0" marL="0">
              <a:buNone/>
            </a:pPr>
            <a:r>
              <a:rPr lang="en-US" sz="1000" b="1" dirty="0">
                <a:solidFill>
                  <a:srgbClr val="1A7A5E"/>
                </a:solidFill>
                <a:latin typeface="Calibri" pitchFamily="34" charset="0"/>
                <a:ea typeface="Calibri" pitchFamily="34" charset="-122"/>
                <a:cs typeface="Calibri" pitchFamily="34" charset="-120"/>
              </a:rPr>
              <a:t>9 Participants</a:t>
            </a:r>
            <a:endParaRPr lang="en-US" sz="1000" dirty="0"/>
          </a:p>
        </p:txBody>
      </p:sp>
      <p:sp>
        <p:nvSpPr>
          <p:cNvPr id="13" name="Shape 11"/>
          <p:cNvSpPr/>
          <p:nvPr/>
        </p:nvSpPr>
        <p:spPr>
          <a:xfrm>
            <a:off x="320040" y="3090672"/>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4" name="Shape 12"/>
          <p:cNvSpPr/>
          <p:nvPr/>
        </p:nvSpPr>
        <p:spPr>
          <a:xfrm>
            <a:off x="320040" y="3090672"/>
            <a:ext cx="91440" cy="731520"/>
          </a:xfrm>
          <a:prstGeom prst="rect">
            <a:avLst/>
          </a:prstGeom>
          <a:solidFill>
            <a:srgbClr val="3A6B9F"/>
          </a:solidFill>
          <a:ln/>
        </p:spPr>
      </p:sp>
      <p:sp>
        <p:nvSpPr>
          <p:cNvPr id="15" name="Text 13"/>
          <p:cNvSpPr/>
          <p:nvPr/>
        </p:nvSpPr>
        <p:spPr>
          <a:xfrm>
            <a:off x="521208" y="3154680"/>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LFEF – Early Cohorts</a:t>
            </a:r>
            <a:endParaRPr lang="en-US" sz="1050" dirty="0"/>
          </a:p>
        </p:txBody>
      </p:sp>
      <p:sp>
        <p:nvSpPr>
          <p:cNvPr id="16" name="Text 14"/>
          <p:cNvSpPr/>
          <p:nvPr/>
        </p:nvSpPr>
        <p:spPr>
          <a:xfrm>
            <a:off x="521208" y="3547872"/>
            <a:ext cx="3886200" cy="219456"/>
          </a:xfrm>
          <a:prstGeom prst="rect">
            <a:avLst/>
          </a:prstGeom>
          <a:noFill/>
          <a:ln/>
        </p:spPr>
        <p:txBody>
          <a:bodyPr wrap="square" rtlCol="0" anchor="ctr"/>
          <a:lstStyle/>
          <a:p>
            <a:pPr indent="0" marL="0">
              <a:buNone/>
            </a:pPr>
            <a:r>
              <a:rPr lang="en-US" sz="1000" b="1" dirty="0">
                <a:solidFill>
                  <a:srgbClr val="3A6B9F"/>
                </a:solidFill>
                <a:latin typeface="Calibri" pitchFamily="34" charset="0"/>
                <a:ea typeface="Calibri" pitchFamily="34" charset="-122"/>
                <a:cs typeface="Calibri" pitchFamily="34" charset="-120"/>
              </a:rPr>
              <a:t>7 Participants</a:t>
            </a:r>
            <a:endParaRPr lang="en-US" sz="1000" dirty="0"/>
          </a:p>
        </p:txBody>
      </p:sp>
      <p:sp>
        <p:nvSpPr>
          <p:cNvPr id="17" name="Shape 15"/>
          <p:cNvSpPr/>
          <p:nvPr/>
        </p:nvSpPr>
        <p:spPr>
          <a:xfrm>
            <a:off x="320040" y="3986784"/>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8" name="Shape 16"/>
          <p:cNvSpPr/>
          <p:nvPr/>
        </p:nvSpPr>
        <p:spPr>
          <a:xfrm>
            <a:off x="320040" y="3986784"/>
            <a:ext cx="91440" cy="731520"/>
          </a:xfrm>
          <a:prstGeom prst="rect">
            <a:avLst/>
          </a:prstGeom>
          <a:solidFill>
            <a:srgbClr val="5A4898"/>
          </a:solidFill>
          <a:ln/>
        </p:spPr>
      </p:sp>
      <p:sp>
        <p:nvSpPr>
          <p:cNvPr id="19" name="Text 17"/>
          <p:cNvSpPr/>
          <p:nvPr/>
        </p:nvSpPr>
        <p:spPr>
          <a:xfrm>
            <a:off x="521208" y="4050792"/>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LFEF – 2022–2023 Cohorts</a:t>
            </a:r>
            <a:endParaRPr lang="en-US" sz="1050" dirty="0"/>
          </a:p>
        </p:txBody>
      </p:sp>
      <p:sp>
        <p:nvSpPr>
          <p:cNvPr id="20" name="Text 18"/>
          <p:cNvSpPr/>
          <p:nvPr/>
        </p:nvSpPr>
        <p:spPr>
          <a:xfrm>
            <a:off x="521208" y="4443984"/>
            <a:ext cx="3886200" cy="219456"/>
          </a:xfrm>
          <a:prstGeom prst="rect">
            <a:avLst/>
          </a:prstGeom>
          <a:noFill/>
          <a:ln/>
        </p:spPr>
        <p:txBody>
          <a:bodyPr wrap="square" rtlCol="0" anchor="ctr"/>
          <a:lstStyle/>
          <a:p>
            <a:pPr indent="0" marL="0">
              <a:buNone/>
            </a:pPr>
            <a:r>
              <a:rPr lang="en-US" sz="1000" b="1" dirty="0">
                <a:solidFill>
                  <a:srgbClr val="5A4898"/>
                </a:solidFill>
                <a:latin typeface="Calibri" pitchFamily="34" charset="0"/>
                <a:ea typeface="Calibri" pitchFamily="34" charset="-122"/>
                <a:cs typeface="Calibri" pitchFamily="34" charset="-120"/>
              </a:rPr>
              <a:t>10 Participants</a:t>
            </a:r>
            <a:endParaRPr lang="en-US" sz="1000" dirty="0"/>
          </a:p>
        </p:txBody>
      </p:sp>
      <p:sp>
        <p:nvSpPr>
          <p:cNvPr id="21" name="Shape 19"/>
          <p:cNvSpPr/>
          <p:nvPr/>
        </p:nvSpPr>
        <p:spPr>
          <a:xfrm>
            <a:off x="4736592" y="1298448"/>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2" name="Shape 20"/>
          <p:cNvSpPr/>
          <p:nvPr/>
        </p:nvSpPr>
        <p:spPr>
          <a:xfrm>
            <a:off x="4736592" y="1298448"/>
            <a:ext cx="91440" cy="731520"/>
          </a:xfrm>
          <a:prstGeom prst="rect">
            <a:avLst/>
          </a:prstGeom>
          <a:solidFill>
            <a:srgbClr val="D95F5F"/>
          </a:solidFill>
          <a:ln/>
        </p:spPr>
      </p:sp>
      <p:sp>
        <p:nvSpPr>
          <p:cNvPr id="23" name="Text 21"/>
          <p:cNvSpPr/>
          <p:nvPr/>
        </p:nvSpPr>
        <p:spPr>
          <a:xfrm>
            <a:off x="4937760" y="1362456"/>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Transforming Self Workshops</a:t>
            </a:r>
            <a:endParaRPr lang="en-US" sz="1050" dirty="0"/>
          </a:p>
        </p:txBody>
      </p:sp>
      <p:sp>
        <p:nvSpPr>
          <p:cNvPr id="24" name="Text 22"/>
          <p:cNvSpPr/>
          <p:nvPr/>
        </p:nvSpPr>
        <p:spPr>
          <a:xfrm>
            <a:off x="4937760" y="1755648"/>
            <a:ext cx="3886200" cy="219456"/>
          </a:xfrm>
          <a:prstGeom prst="rect">
            <a:avLst/>
          </a:prstGeom>
          <a:noFill/>
          <a:ln/>
        </p:spPr>
        <p:txBody>
          <a:bodyPr wrap="square" rtlCol="0" anchor="ctr"/>
          <a:lstStyle/>
          <a:p>
            <a:pPr indent="0" marL="0">
              <a:buNone/>
            </a:pPr>
            <a:r>
              <a:rPr lang="en-US" sz="1000" b="1" dirty="0">
                <a:solidFill>
                  <a:srgbClr val="D95F5F"/>
                </a:solidFill>
                <a:latin typeface="Calibri" pitchFamily="34" charset="0"/>
                <a:ea typeface="Calibri" pitchFamily="34" charset="-122"/>
                <a:cs typeface="Calibri" pitchFamily="34" charset="-120"/>
              </a:rPr>
              <a:t>6 Participants</a:t>
            </a:r>
            <a:endParaRPr lang="en-US" sz="1000" dirty="0"/>
          </a:p>
        </p:txBody>
      </p:sp>
      <p:sp>
        <p:nvSpPr>
          <p:cNvPr id="25" name="Shape 23"/>
          <p:cNvSpPr/>
          <p:nvPr/>
        </p:nvSpPr>
        <p:spPr>
          <a:xfrm>
            <a:off x="4736592" y="2194560"/>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4736592" y="2194560"/>
            <a:ext cx="91440" cy="731520"/>
          </a:xfrm>
          <a:prstGeom prst="rect">
            <a:avLst/>
          </a:prstGeom>
          <a:solidFill>
            <a:srgbClr val="C9A84C"/>
          </a:solidFill>
          <a:ln/>
        </p:spPr>
      </p:sp>
      <p:sp>
        <p:nvSpPr>
          <p:cNvPr id="27" name="Text 25"/>
          <p:cNvSpPr/>
          <p:nvPr/>
        </p:nvSpPr>
        <p:spPr>
          <a:xfrm>
            <a:off x="4937760" y="2258568"/>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Quantum Laws of Leadership</a:t>
            </a:r>
            <a:endParaRPr lang="en-US" sz="1050" dirty="0"/>
          </a:p>
        </p:txBody>
      </p:sp>
      <p:sp>
        <p:nvSpPr>
          <p:cNvPr id="28" name="Text 26"/>
          <p:cNvSpPr/>
          <p:nvPr/>
        </p:nvSpPr>
        <p:spPr>
          <a:xfrm>
            <a:off x="4937760" y="2651760"/>
            <a:ext cx="3886200" cy="219456"/>
          </a:xfrm>
          <a:prstGeom prst="rect">
            <a:avLst/>
          </a:prstGeom>
          <a:noFill/>
          <a:ln/>
        </p:spPr>
        <p:txBody>
          <a:bodyPr wrap="square"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7 Participants</a:t>
            </a:r>
            <a:endParaRPr lang="en-US" sz="1000" dirty="0"/>
          </a:p>
        </p:txBody>
      </p:sp>
      <p:sp>
        <p:nvSpPr>
          <p:cNvPr id="29" name="Shape 27"/>
          <p:cNvSpPr/>
          <p:nvPr/>
        </p:nvSpPr>
        <p:spPr>
          <a:xfrm>
            <a:off x="4736592" y="3090672"/>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0" name="Shape 28"/>
          <p:cNvSpPr/>
          <p:nvPr/>
        </p:nvSpPr>
        <p:spPr>
          <a:xfrm>
            <a:off x="4736592" y="3090672"/>
            <a:ext cx="91440" cy="731520"/>
          </a:xfrm>
          <a:prstGeom prst="rect">
            <a:avLst/>
          </a:prstGeom>
          <a:solidFill>
            <a:srgbClr val="B85C38"/>
          </a:solidFill>
          <a:ln/>
        </p:spPr>
      </p:sp>
      <p:sp>
        <p:nvSpPr>
          <p:cNvPr id="31" name="Text 29"/>
          <p:cNvSpPr/>
          <p:nvPr/>
        </p:nvSpPr>
        <p:spPr>
          <a:xfrm>
            <a:off x="4937760" y="3154680"/>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Kalorex Leadership Forum – May 2023</a:t>
            </a:r>
            <a:endParaRPr lang="en-US" sz="1050" dirty="0"/>
          </a:p>
        </p:txBody>
      </p:sp>
      <p:sp>
        <p:nvSpPr>
          <p:cNvPr id="32" name="Text 30"/>
          <p:cNvSpPr/>
          <p:nvPr/>
        </p:nvSpPr>
        <p:spPr>
          <a:xfrm>
            <a:off x="4937760" y="3547872"/>
            <a:ext cx="3886200" cy="219456"/>
          </a:xfrm>
          <a:prstGeom prst="rect">
            <a:avLst/>
          </a:prstGeom>
          <a:noFill/>
          <a:ln/>
        </p:spPr>
        <p:txBody>
          <a:bodyPr wrap="square" rtlCol="0" anchor="ctr"/>
          <a:lstStyle/>
          <a:p>
            <a:pPr indent="0" marL="0">
              <a:buNone/>
            </a:pPr>
            <a:r>
              <a:rPr lang="en-US" sz="1000" b="1" dirty="0">
                <a:solidFill>
                  <a:srgbClr val="B85C38"/>
                </a:solidFill>
                <a:latin typeface="Calibri" pitchFamily="34" charset="0"/>
                <a:ea typeface="Calibri" pitchFamily="34" charset="-122"/>
                <a:cs typeface="Calibri" pitchFamily="34" charset="-120"/>
              </a:rPr>
              <a:t>16 Participants</a:t>
            </a:r>
            <a:endParaRPr lang="en-US" sz="1000" dirty="0"/>
          </a:p>
        </p:txBody>
      </p:sp>
      <p:sp>
        <p:nvSpPr>
          <p:cNvPr id="33" name="Shape 31"/>
          <p:cNvSpPr/>
          <p:nvPr/>
        </p:nvSpPr>
        <p:spPr>
          <a:xfrm>
            <a:off x="4736592" y="3986784"/>
            <a:ext cx="4206240" cy="73152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4" name="Shape 32"/>
          <p:cNvSpPr/>
          <p:nvPr/>
        </p:nvSpPr>
        <p:spPr>
          <a:xfrm>
            <a:off x="4736592" y="3986784"/>
            <a:ext cx="91440" cy="731520"/>
          </a:xfrm>
          <a:prstGeom prst="rect">
            <a:avLst/>
          </a:prstGeom>
          <a:solidFill>
            <a:srgbClr val="2E6B4F"/>
          </a:solidFill>
          <a:ln/>
        </p:spPr>
      </p:sp>
      <p:sp>
        <p:nvSpPr>
          <p:cNvPr id="35" name="Text 33"/>
          <p:cNvSpPr/>
          <p:nvPr/>
        </p:nvSpPr>
        <p:spPr>
          <a:xfrm>
            <a:off x="4937760" y="4050792"/>
            <a:ext cx="3886200" cy="329184"/>
          </a:xfrm>
          <a:prstGeom prst="rect">
            <a:avLst/>
          </a:prstGeom>
          <a:noFill/>
          <a:ln/>
        </p:spPr>
        <p:txBody>
          <a:bodyPr wrap="square" rtlCol="0" anchor="ctr"/>
          <a:lstStyle/>
          <a:p>
            <a:pPr indent="0" marL="0">
              <a:buNone/>
            </a:pPr>
            <a:r>
              <a:rPr lang="en-US" sz="1050" b="1" dirty="0">
                <a:solidFill>
                  <a:srgbClr val="1B2C5E"/>
                </a:solidFill>
                <a:latin typeface="Calibri" pitchFamily="34" charset="0"/>
                <a:ea typeface="Calibri" pitchFamily="34" charset="-122"/>
                <a:cs typeface="Calibri" pitchFamily="34" charset="-120"/>
              </a:rPr>
              <a:t>CXO – Leading from the Future (Sept 2023)</a:t>
            </a:r>
            <a:endParaRPr lang="en-US" sz="1050" dirty="0"/>
          </a:p>
        </p:txBody>
      </p:sp>
      <p:sp>
        <p:nvSpPr>
          <p:cNvPr id="36" name="Text 34"/>
          <p:cNvSpPr/>
          <p:nvPr/>
        </p:nvSpPr>
        <p:spPr>
          <a:xfrm>
            <a:off x="4937760" y="4443984"/>
            <a:ext cx="3886200" cy="219456"/>
          </a:xfrm>
          <a:prstGeom prst="rect">
            <a:avLst/>
          </a:prstGeom>
          <a:noFill/>
          <a:ln/>
        </p:spPr>
        <p:txBody>
          <a:bodyPr wrap="square" rtlCol="0" anchor="ctr"/>
          <a:lstStyle/>
          <a:p>
            <a:pPr indent="0" marL="0">
              <a:buNone/>
            </a:pPr>
            <a:r>
              <a:rPr lang="en-US" sz="1000" b="1" dirty="0">
                <a:solidFill>
                  <a:srgbClr val="2E6B4F"/>
                </a:solidFill>
                <a:latin typeface="Calibri" pitchFamily="34" charset="0"/>
                <a:ea typeface="Calibri" pitchFamily="34" charset="-122"/>
                <a:cs typeface="Calibri" pitchFamily="34" charset="-120"/>
              </a:rPr>
              <a:t>5 Participants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0A7EA4">
              <a:alpha val="17000"/>
            </a:srgbClr>
          </a:solidFill>
          <a:ln/>
        </p:spPr>
      </p:sp>
      <p:sp>
        <p:nvSpPr>
          <p:cNvPr id="3" name="Shape 1"/>
          <p:cNvSpPr/>
          <p:nvPr/>
        </p:nvSpPr>
        <p:spPr>
          <a:xfrm>
            <a:off x="0" y="1901952"/>
            <a:ext cx="411480" cy="1325880"/>
          </a:xfrm>
          <a:prstGeom prst="rect">
            <a:avLst/>
          </a:prstGeom>
          <a:solidFill>
            <a:srgbClr val="0A7EA4"/>
          </a:solidFill>
          <a:ln/>
        </p:spPr>
      </p:sp>
      <p:sp>
        <p:nvSpPr>
          <p:cNvPr id="4" name="Shape 2"/>
          <p:cNvSpPr/>
          <p:nvPr/>
        </p:nvSpPr>
        <p:spPr>
          <a:xfrm>
            <a:off x="6583680" y="182880"/>
            <a:ext cx="3200400" cy="3200400"/>
          </a:xfrm>
          <a:prstGeom prst="ellipse">
            <a:avLst/>
          </a:prstGeom>
          <a:solidFill>
            <a:srgbClr val="0A7EA4">
              <a:alpha val="12000"/>
            </a:srgbClr>
          </a:solidFill>
          <a:ln w="12700">
            <a:solidFill>
              <a:srgbClr val="0A7EA4"/>
            </a:solidFill>
            <a:prstDash val="solid"/>
          </a:ln>
        </p:spPr>
      </p:sp>
      <p:sp>
        <p:nvSpPr>
          <p:cNvPr id="5" name="Shape 3"/>
          <p:cNvSpPr/>
          <p:nvPr/>
        </p:nvSpPr>
        <p:spPr>
          <a:xfrm>
            <a:off x="-731520" y="3383280"/>
            <a:ext cx="2560320" cy="2560320"/>
          </a:xfrm>
          <a:prstGeom prst="ellipse">
            <a:avLst/>
          </a:prstGeom>
          <a:solidFill>
            <a:srgbClr val="0A7EA4">
              <a:alpha val="13000"/>
            </a:srgbClr>
          </a:solidFill>
          <a:ln w="12700">
            <a:solidFill>
              <a:srgbClr val="0A7EA4"/>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CXO – Leading from the Future</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0A7EA4"/>
                </a:solidFill>
                <a:latin typeface="Calibri" pitchFamily="34" charset="0"/>
                <a:ea typeface="Calibri" pitchFamily="34" charset="-122"/>
                <a:cs typeface="Calibri" pitchFamily="34" charset="-120"/>
              </a:rPr>
              <a:t>April 2024 &amp; February 2024 Workshop  •  Facilitated by Dr. Manoj Onkar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Harshal Shah</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Founder &amp; Director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Ela Technologies</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(Websites, eCommerce &amp; Digital Marketing)</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(Apr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Deep listening — truly hearing people from the heart unlocks far more than surface-level conversation.</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Dialogue culture: organizations transform when people speak openly, not just make 'sweet talk'.</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To go fast, you must go slow — slowing down leads to better, more considered decisions.</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"If you listen to people from the heart, you get to know a lot many things and can transform organizations better."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Sanjay Chaturvedi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VP Sales</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Silver Touch Technologists</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(28-Year System Integrator)</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(Apr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Factual listening: learning to observe and understand a situation from multiple perspectives before responding.</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walk — stepping into others' shoes to understand their feelings before making decisions.</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meetings: one-on-one sessions to truly understand what stakeholders expect from you.</a:t>
            </a:r>
            <a:endParaRPr lang="en-US" sz="1150" dirty="0"/>
          </a:p>
        </p:txBody>
      </p:sp>
      <p:sp>
        <p:nvSpPr>
          <p:cNvPr id="21" name="Shape 19"/>
          <p:cNvSpPr/>
          <p:nvPr/>
        </p:nvSpPr>
        <p:spPr>
          <a:xfrm>
            <a:off x="2907792" y="2916936"/>
            <a:ext cx="256032" cy="256032"/>
          </a:xfrm>
          <a:prstGeom prst="ellipse">
            <a:avLst/>
          </a:prstGeom>
          <a:solidFill>
            <a:srgbClr val="0A7EA4"/>
          </a:solidFill>
          <a:ln/>
        </p:spPr>
      </p:sp>
      <p:sp>
        <p:nvSpPr>
          <p:cNvPr id="22" name="Text 20"/>
          <p:cNvSpPr/>
          <p:nvPr/>
        </p:nvSpPr>
        <p:spPr>
          <a:xfrm>
            <a:off x="2907792" y="291693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3" name="Text 21"/>
          <p:cNvSpPr/>
          <p:nvPr/>
        </p:nvSpPr>
        <p:spPr>
          <a:xfrm>
            <a:off x="3273552" y="286207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Case clinic: listening from the heart, setting the brain aside, to co-discover real solutions.</a:t>
            </a:r>
            <a:endParaRPr lang="en-US" sz="1150" dirty="0"/>
          </a:p>
        </p:txBody>
      </p:sp>
      <p:sp>
        <p:nvSpPr>
          <p:cNvPr id="24" name="Shape 22"/>
          <p:cNvSpPr/>
          <p:nvPr/>
        </p:nvSpPr>
        <p:spPr>
          <a:xfrm>
            <a:off x="2788920" y="3703320"/>
            <a:ext cx="6199632" cy="850392"/>
          </a:xfrm>
          <a:prstGeom prst="rect">
            <a:avLst/>
          </a:prstGeom>
          <a:solidFill>
            <a:srgbClr val="0A7EA4">
              <a:alpha val="9000"/>
            </a:srgbClr>
          </a:solidFill>
          <a:ln/>
        </p:spPr>
      </p:sp>
      <p:sp>
        <p:nvSpPr>
          <p:cNvPr id="25" name="Shape 23"/>
          <p:cNvSpPr/>
          <p:nvPr/>
        </p:nvSpPr>
        <p:spPr>
          <a:xfrm>
            <a:off x="2788920" y="3703320"/>
            <a:ext cx="50292" cy="850392"/>
          </a:xfrm>
          <a:prstGeom prst="rect">
            <a:avLst/>
          </a:prstGeom>
          <a:solidFill>
            <a:srgbClr val="0A7EA4"/>
          </a:solidFill>
          <a:ln/>
        </p:spPr>
      </p:sp>
      <p:sp>
        <p:nvSpPr>
          <p:cNvPr id="26" name="Text 24"/>
          <p:cNvSpPr/>
          <p:nvPr/>
        </p:nvSpPr>
        <p:spPr>
          <a:xfrm>
            <a:off x="2944368" y="3794760"/>
            <a:ext cx="5943600" cy="66751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culture shift is: when you face a problem, park your reaction, think with a peaceful mind, and you arrive at a better solution."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Raboti Biswas</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Vice President – Enterprise Solutions</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CIT Technology Limited</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(Apr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Theory U provided a fresh framework for leadership that is both practical and transformational.</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Egocentric to ecocentric thinking: a fundamental shift in how leaders approach decisions and teams.</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Iceberg theory: seeing below the surface of problems to understand their deeper roots.</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"This couple of days workshop gave me quite a lot of knowledge which I will share with team members — together it will make a difference in the entire organization."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Rasesh Jani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Industry 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IT Industry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(Apr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Voice of Judgment: becoming conscious of when our brain's automatic responses override clearer thinking.</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Case clinic: a powerful exercise where peers help you see your problems from entirely new angles.</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workshop benefits both professional success and personal life — a holistic transformation.</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"During the case clinic journey, I understood that my problems are not the actual problem — you can solve them in a different way."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Jignesh Panchal</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Assistant General Manager – Sales</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Unipack Plastic Machinery Pvt. Ltd.</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(Apr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Deep listening as a core strength: understanding people deeply leads to better problem-solving.</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walk: connecting with people at a heart level, not just intellectually.</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interviews: gaining clarity on objectives — yours and others' — to align for the future.</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"These tools will help team members, relatives, and anyone we connect with — and will help us grow both as a company and as individuals."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P.R. Patn</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Senior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Aruna Pumps</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(100% subsidiary of Kosar Oil Engineers)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Workshop – February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Deep listening as the most important skill: becoming aware of the moments when we stop truly listening.</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Patience and mindset when listening — setting aside preoccupations before engaging with another person.</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Connecting decisions with your higher objective: linking actions to the bigger purpose.</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"Being aware and observing the moments when we actually do not listen was the most profound learning of this session."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Mahendra Kumar Yadav</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Founder &amp; Director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Mahendra Rit Infrastructure Pvt. Ltd.</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Workshop – February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From ego-system to eco-system: a paradigm shift in how a leader sees their role and impact.</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Getting out of your head: most learning comes from outside, but we are often trapped inside our own thinking.</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Silence and patience: truly listening, thinking, then responding — a transformative practice.</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"Until now if someone spoke, we would keep going without listening. After this program, being silent, thinking, and then replying — this is a very big thing."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Nilesh Surana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Management Consultant &amp; Business Owner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Benchmark Consultancy</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Chhatrapati Sambhaji Nagar (Aurangabad)</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Workshop – February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Eco-thinking: the more perspectives you include, the bigger the collective accomplishments.</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Learn from the future, not the past: letting go of old patterns to sense emerging possibilities.</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Create a culture where great people want to work — company purpose over department purpose.</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"We should not divide by departments — we all have come together to fulfill the company's purpose. How well we can all work together — this learning was very unique."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Shaher Mohammad</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Infrastructure 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MRPL Infrastructure Pvt. Ltd.</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Workshop – February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Human beings are not designed to listen — yet if you don't listen, you cannot add value.</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Treat stakeholders as a source, not a resource: they bring new ideas, not just task fulfillment.</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Dialogue culture: when everyone listens and speaks openly, innovation and great ideas emerge.</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"Consider every stakeholder as a source — not a resource — and you will get new, multiple ideas."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Sandeep Singh</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Senior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MRIPS (Mumbai)</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Workshop – February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Structure: behind every success or failure is a hidden structure — learning to see and change it.</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Zero-follow organization: building teams where no follow-up is needed with subordinates or vendors.</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interviews: stepping into the stakeholder's perspective for exponential growth.</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"If we go into the stakeholder's shoes and think from their thoughts, the exponential growth we can find is multiple-fold."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Viral Pati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Technology 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Region Technology (5 Years)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Workshop – February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Deep listening in meetings: focus fully, then respond thoughtfully rather than react immediately.</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800 crore realities: every person operates from their own truth — true connection bridges these worlds.</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Source vs. resource: employees are partners and sources of ideas, not machines.</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"Our employee and team member should not be treated as a resource — we need to treat them as a source, because a resource is a machine and a source is our partner."</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0A7EA4"/>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 Solanki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Senior 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Kirloskar Oil Engines Limited</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Workshop – February 2024</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0A7EA4"/>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0A7EA4"/>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Moving from egocentric to ecocentric leadership: a foundational mindset shift for leaders.</a:t>
            </a:r>
            <a:endParaRPr lang="en-US" sz="1150" dirty="0"/>
          </a:p>
        </p:txBody>
      </p:sp>
      <p:sp>
        <p:nvSpPr>
          <p:cNvPr id="15" name="Shape 13"/>
          <p:cNvSpPr/>
          <p:nvPr/>
        </p:nvSpPr>
        <p:spPr>
          <a:xfrm>
            <a:off x="2907792" y="1362456"/>
            <a:ext cx="256032" cy="256032"/>
          </a:xfrm>
          <a:prstGeom prst="ellipse">
            <a:avLst/>
          </a:prstGeom>
          <a:solidFill>
            <a:srgbClr val="0A7EA4"/>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U Process: observe → retreat &amp; reflect → prototype → apply → iterate. A cycle of emerging leadership.</a:t>
            </a:r>
            <a:endParaRPr lang="en-US" sz="1150" dirty="0"/>
          </a:p>
        </p:txBody>
      </p:sp>
      <p:sp>
        <p:nvSpPr>
          <p:cNvPr id="18" name="Shape 16"/>
          <p:cNvSpPr/>
          <p:nvPr/>
        </p:nvSpPr>
        <p:spPr>
          <a:xfrm>
            <a:off x="2907792" y="2139696"/>
            <a:ext cx="256032" cy="256032"/>
          </a:xfrm>
          <a:prstGeom prst="ellipse">
            <a:avLst/>
          </a:prstGeom>
          <a:solidFill>
            <a:srgbClr val="0A7EA4"/>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walk with stakeholders: structured conversations to truly know the people you work with.</a:t>
            </a:r>
            <a:endParaRPr lang="en-US" sz="1150" dirty="0"/>
          </a:p>
        </p:txBody>
      </p:sp>
      <p:sp>
        <p:nvSpPr>
          <p:cNvPr id="21" name="Shape 19"/>
          <p:cNvSpPr/>
          <p:nvPr/>
        </p:nvSpPr>
        <p:spPr>
          <a:xfrm>
            <a:off x="2788920" y="2926080"/>
            <a:ext cx="6199632" cy="1627632"/>
          </a:xfrm>
          <a:prstGeom prst="rect">
            <a:avLst/>
          </a:prstGeom>
          <a:solidFill>
            <a:srgbClr val="0A7EA4">
              <a:alpha val="9000"/>
            </a:srgbClr>
          </a:solidFill>
          <a:ln/>
        </p:spPr>
      </p:sp>
      <p:sp>
        <p:nvSpPr>
          <p:cNvPr id="22" name="Shape 20"/>
          <p:cNvSpPr/>
          <p:nvPr/>
        </p:nvSpPr>
        <p:spPr>
          <a:xfrm>
            <a:off x="2788920" y="2926080"/>
            <a:ext cx="50292" cy="1627632"/>
          </a:xfrm>
          <a:prstGeom prst="rect">
            <a:avLst/>
          </a:prstGeom>
          <a:solidFill>
            <a:srgbClr val="0A7EA4"/>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"By this iterative way, we have to emerge the future in our current requirements."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1A7A5E">
              <a:alpha val="17000"/>
            </a:srgbClr>
          </a:solidFill>
          <a:ln/>
        </p:spPr>
      </p:sp>
      <p:sp>
        <p:nvSpPr>
          <p:cNvPr id="3" name="Shape 1"/>
          <p:cNvSpPr/>
          <p:nvPr/>
        </p:nvSpPr>
        <p:spPr>
          <a:xfrm>
            <a:off x="0" y="1901952"/>
            <a:ext cx="411480" cy="1325880"/>
          </a:xfrm>
          <a:prstGeom prst="rect">
            <a:avLst/>
          </a:prstGeom>
          <a:solidFill>
            <a:srgbClr val="1A7A5E"/>
          </a:solidFill>
          <a:ln/>
        </p:spPr>
      </p:sp>
      <p:sp>
        <p:nvSpPr>
          <p:cNvPr id="4" name="Shape 2"/>
          <p:cNvSpPr/>
          <p:nvPr/>
        </p:nvSpPr>
        <p:spPr>
          <a:xfrm>
            <a:off x="6583680" y="182880"/>
            <a:ext cx="3200400" cy="3200400"/>
          </a:xfrm>
          <a:prstGeom prst="ellipse">
            <a:avLst/>
          </a:prstGeom>
          <a:solidFill>
            <a:srgbClr val="1A7A5E">
              <a:alpha val="12000"/>
            </a:srgbClr>
          </a:solidFill>
          <a:ln w="12700">
            <a:solidFill>
              <a:srgbClr val="1A7A5E"/>
            </a:solidFill>
            <a:prstDash val="solid"/>
          </a:ln>
        </p:spPr>
      </p:sp>
      <p:sp>
        <p:nvSpPr>
          <p:cNvPr id="5" name="Shape 3"/>
          <p:cNvSpPr/>
          <p:nvPr/>
        </p:nvSpPr>
        <p:spPr>
          <a:xfrm>
            <a:off x="-731520" y="3383280"/>
            <a:ext cx="2560320" cy="2560320"/>
          </a:xfrm>
          <a:prstGeom prst="ellipse">
            <a:avLst/>
          </a:prstGeom>
          <a:solidFill>
            <a:srgbClr val="1A7A5E">
              <a:alpha val="13000"/>
            </a:srgbClr>
          </a:solidFill>
          <a:ln w="12700">
            <a:solidFill>
              <a:srgbClr val="1A7A5E"/>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Theory U Alumni — #ThankyouTheoryU</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1A7A5E"/>
                </a:solidFill>
                <a:latin typeface="Calibri" pitchFamily="34" charset="0"/>
                <a:ea typeface="Calibri" pitchFamily="34" charset="-122"/>
                <a:cs typeface="Calibri" pitchFamily="34" charset="-120"/>
              </a:rPr>
              <a:t>Alumni sharing their journeys — April 2021  •  Facilitated by LFEF &amp; Global Transformation Consulting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Sai Krishna Rao</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Head – Education Initiative (India)</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Schneider Electric India</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(French Multinational)</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Shifted from ego to eco: became sensitive to stakeholder needs and able to co-create solutions for everyone.</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Developed vulnerability and patience — sensing new possibilities and recognizing fears clearly to let them go.</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Transformed business from selling to co-creating partnerships with academia for the education ecosystem.</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"My patience improved and my ability to sense new possibilities that want to emerge has expanded. By letting go of fear, I'm open to new ideas and taking actions in those areas."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Sanjay Kumar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Entrepreneur &amp; IT Company Founder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IT Company, New Delhi</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Learning from the emerging future: whenever doubt arises, suspend it and ask what wants to emerge.</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Tools in daily use: stakeholder interview, case clinic, and suspending downloading transformed business and relationships.</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Transformed connections with team, clients, daughters, parents, and wife — a fundamentally different level.</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apply insights from the emerging future in my decisions and the results are extraordinary. My relationship with my team, clients, and family is at a totally different level."</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Pranay Kumar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Sustainability &amp; Environment Entrepreneur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Vasuda Projects &amp; Asma Energy</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(Yoga, EVs, Holistic Health, Pure Foods)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Discovered Level 3–4 listening through empathy walk with his wife — transforming how he heard her as both coach and partner.</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Invited his wife to lead sales after listening revealed she was far stronger at it — a profound ego surrender.</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Empowered people during COVID and launched new projects in sustainability and nutrition for malnourished children.</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found out I am not a very good sales person — she is. I told her: you lead the sales, I will be your assistant. She is doing it right now."</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Usha Kulkarni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Healthcare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15 Years in Healthcare</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Hospitals across India, Nepal &amp; Ethiopia</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Three life-changing distinctions: empathy walk, stakeholder meetings, and the ego-to-eco shift.</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Transformed a dying dialysis unit in Ethiopia from near-closure to one of the best in the region through weekly vision meetings.</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unit survived civil war untouched — still holding the space of healing and compassion.</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"It is nothing about me as ego — it is completely eco. Even today the dialysis unit holds the space of healing. Patients come and get treated despite everything around it."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Chetan Haingar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Marketing Consultant &amp; Entrepreneur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Based in London, UK</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(Originally from India)</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Answering the 17 questions took him deep into 'who am I?' — created himself as 'love, leadership and contribution'.</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spark became reality: launched Roller Ventures, a VC fund for purpose-driven entrepreneurs solving meaningful problems.</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Reinvented his marketing practice to help businesses create purpose-driven brands, not just grow revenues.</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"What started off as a spark of an idea is now becoming a reality. We're going to invest in purpose-driven entrepreneurs committed to solving meaningful problems in the world."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Jayeshri Kunju</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Chartered Accountant &amp; CEO</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iBas Global</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(Global Business Leadership Coaching)</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Discovered her purpose: 'a life that works for all' — the fragmentation of her many passions finally came together.</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Created MITRA initiative: 1,830 members joined, providing food and dignity during COVID with 99.99% of funds reaching recipients.</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Expanded boundaries from India to the world — feeding 300 Kenyan refugees weekly for over a year.</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feel limitless right now. My boundaries opened up — the moment I opened up, I became resourceful to feed Kenyan refugees. Every week about 300 people get food, clothes, and dignity."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Shraddha Masli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Industry 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Schneider Electric, Pune</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Applied Theory U with six graduate trainees: gave 80% speaking space to them, held only 20%.</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Her one principle — 'let it emerge' — guided every interaction and prevented her from forcing outcomes.</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Result: her trainee team won first prize among all batches in the entire Schneider Electric cohort.</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said to myself: I don't want to know what the result is — let it emerge. I was doing 20% of the speaking and 80% was the trainees. And they topped the complete group."</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Sheila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Artist &amp; Life Coach</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Chennai</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Released the inner chatterbox and self-imposed limit of 'I'm nothing, who will listen to me?'</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Mobilised her building community with a single WhatsApp message — raised ₹1,20,000 in 48 hours for a colleague's cancer surgery.</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Transformed teaching interactions — students and colleagues now experience freedom and peace in her presence.</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"Actually, if you come to see it — I didn't do anything. I just took a step and started speaking. I came out of my barrier. Money just started pouring in — ₹40k by Sunday morning, ₹1,20,000 by Monday."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A7A5E"/>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Melvin</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Entrepreneur &amp; Life Coach</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Surat-based Platform Builder</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('Attention on Intention' Digital System)</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Theory U Alumni – #ThankyouTheoryU 2021</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1A7A5E"/>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1A7A5E"/>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phrase 'keep your attention on the intention' sparked him to build a habit-tracking digital platform.</a:t>
            </a:r>
            <a:endParaRPr lang="en-US" sz="1150" dirty="0"/>
          </a:p>
        </p:txBody>
      </p:sp>
      <p:sp>
        <p:nvSpPr>
          <p:cNvPr id="15" name="Shape 13"/>
          <p:cNvSpPr/>
          <p:nvPr/>
        </p:nvSpPr>
        <p:spPr>
          <a:xfrm>
            <a:off x="2907792" y="1362456"/>
            <a:ext cx="256032" cy="256032"/>
          </a:xfrm>
          <a:prstGeom prst="ellipse">
            <a:avLst/>
          </a:prstGeom>
          <a:solidFill>
            <a:srgbClr val="1A7A5E"/>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215 paid subscribers — including doctors, advocates, students and parents — achieving extraordinary outcomes.</a:t>
            </a:r>
            <a:endParaRPr lang="en-US" sz="1150" dirty="0"/>
          </a:p>
        </p:txBody>
      </p:sp>
      <p:sp>
        <p:nvSpPr>
          <p:cNvPr id="18" name="Shape 16"/>
          <p:cNvSpPr/>
          <p:nvPr/>
        </p:nvSpPr>
        <p:spPr>
          <a:xfrm>
            <a:off x="2907792" y="2139696"/>
            <a:ext cx="256032" cy="256032"/>
          </a:xfrm>
          <a:prstGeom prst="ellipse">
            <a:avLst/>
          </a:prstGeom>
          <a:solidFill>
            <a:srgbClr val="1A7A5E"/>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Personal results: his wife recovered from 42 kg to 60 kg; his daughter became a top clinical nutritionist working remotely.</a:t>
            </a:r>
            <a:endParaRPr lang="en-US" sz="1150" dirty="0"/>
          </a:p>
        </p:txBody>
      </p:sp>
      <p:sp>
        <p:nvSpPr>
          <p:cNvPr id="21" name="Shape 19"/>
          <p:cNvSpPr/>
          <p:nvPr/>
        </p:nvSpPr>
        <p:spPr>
          <a:xfrm>
            <a:off x="2788920" y="2926080"/>
            <a:ext cx="6199632" cy="1627632"/>
          </a:xfrm>
          <a:prstGeom prst="rect">
            <a:avLst/>
          </a:prstGeom>
          <a:solidFill>
            <a:srgbClr val="1A7A5E">
              <a:alpha val="9000"/>
            </a:srgbClr>
          </a:solidFill>
          <a:ln/>
        </p:spPr>
      </p:sp>
      <p:sp>
        <p:nvSpPr>
          <p:cNvPr id="22" name="Shape 20"/>
          <p:cNvSpPr/>
          <p:nvPr/>
        </p:nvSpPr>
        <p:spPr>
          <a:xfrm>
            <a:off x="2788920" y="2926080"/>
            <a:ext cx="50292" cy="1627632"/>
          </a:xfrm>
          <a:prstGeom prst="rect">
            <a:avLst/>
          </a:prstGeom>
          <a:solidFill>
            <a:srgbClr val="1A7A5E"/>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"What this program gave me is my life, my passion. A student who was a failure became a topper. A divorce that was about to happen — didn't. I created something out of nothing."</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3A6B9F">
              <a:alpha val="17000"/>
            </a:srgbClr>
          </a:solidFill>
          <a:ln/>
        </p:spPr>
      </p:sp>
      <p:sp>
        <p:nvSpPr>
          <p:cNvPr id="3" name="Shape 1"/>
          <p:cNvSpPr/>
          <p:nvPr/>
        </p:nvSpPr>
        <p:spPr>
          <a:xfrm>
            <a:off x="0" y="1901952"/>
            <a:ext cx="411480" cy="1325880"/>
          </a:xfrm>
          <a:prstGeom prst="rect">
            <a:avLst/>
          </a:prstGeom>
          <a:solidFill>
            <a:srgbClr val="3A6B9F"/>
          </a:solidFill>
          <a:ln/>
        </p:spPr>
      </p:sp>
      <p:sp>
        <p:nvSpPr>
          <p:cNvPr id="4" name="Shape 2"/>
          <p:cNvSpPr/>
          <p:nvPr/>
        </p:nvSpPr>
        <p:spPr>
          <a:xfrm>
            <a:off x="6583680" y="182880"/>
            <a:ext cx="3200400" cy="3200400"/>
          </a:xfrm>
          <a:prstGeom prst="ellipse">
            <a:avLst/>
          </a:prstGeom>
          <a:solidFill>
            <a:srgbClr val="3A6B9F">
              <a:alpha val="12000"/>
            </a:srgbClr>
          </a:solidFill>
          <a:ln w="12700">
            <a:solidFill>
              <a:srgbClr val="3A6B9F"/>
            </a:solidFill>
            <a:prstDash val="solid"/>
          </a:ln>
        </p:spPr>
      </p:sp>
      <p:sp>
        <p:nvSpPr>
          <p:cNvPr id="5" name="Shape 3"/>
          <p:cNvSpPr/>
          <p:nvPr/>
        </p:nvSpPr>
        <p:spPr>
          <a:xfrm>
            <a:off x="-731520" y="3383280"/>
            <a:ext cx="2560320" cy="2560320"/>
          </a:xfrm>
          <a:prstGeom prst="ellipse">
            <a:avLst/>
          </a:prstGeom>
          <a:solidFill>
            <a:srgbClr val="3A6B9F">
              <a:alpha val="13000"/>
            </a:srgbClr>
          </a:solidFill>
          <a:ln w="12700">
            <a:solidFill>
              <a:srgbClr val="3A6B9F"/>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LFEF – Early Cohorts</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3A6B9F"/>
                </a:solidFill>
                <a:latin typeface="Calibri" pitchFamily="34" charset="0"/>
                <a:ea typeface="Calibri" pitchFamily="34" charset="-122"/>
                <a:cs typeface="Calibri" pitchFamily="34" charset="-120"/>
              </a:rPr>
              <a:t>Participants from the foundational LFEF batches (2019–2021)</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3A6B9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Nilesh Surana (LFEF Alumni)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Lean Consultant &amp; Software Business Owner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Maharashtra, India</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(LFEF #ThankyouTheoryU – Team Sharing 2021)</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Alumni – Early Cohort</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3A6B9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3A6B9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Co-creation as the biggest benefit: now sees every situation through the lens of 'how can I co-create with people?'</a:t>
            </a:r>
            <a:endParaRPr lang="en-US" sz="1150" dirty="0"/>
          </a:p>
        </p:txBody>
      </p:sp>
      <p:sp>
        <p:nvSpPr>
          <p:cNvPr id="15" name="Shape 13"/>
          <p:cNvSpPr/>
          <p:nvPr/>
        </p:nvSpPr>
        <p:spPr>
          <a:xfrm>
            <a:off x="2907792" y="1362456"/>
            <a:ext cx="256032" cy="256032"/>
          </a:xfrm>
          <a:prstGeom prst="ellipse">
            <a:avLst/>
          </a:prstGeom>
          <a:solidFill>
            <a:srgbClr val="3A6B9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interviews practiced continuously: always looking at what others' objectives are and what actions fulfill them.</a:t>
            </a:r>
            <a:endParaRPr lang="en-US" sz="1150" dirty="0"/>
          </a:p>
        </p:txBody>
      </p:sp>
      <p:sp>
        <p:nvSpPr>
          <p:cNvPr id="18" name="Shape 16"/>
          <p:cNvSpPr/>
          <p:nvPr/>
        </p:nvSpPr>
        <p:spPr>
          <a:xfrm>
            <a:off x="2907792" y="2139696"/>
            <a:ext cx="256032" cy="256032"/>
          </a:xfrm>
          <a:prstGeom prst="ellipse">
            <a:avLst/>
          </a:prstGeom>
          <a:solidFill>
            <a:srgbClr val="3A6B9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Scaled a leadership movement to 1,000 people across India in 15 days using eco-leadership principles.</a:t>
            </a:r>
            <a:endParaRPr lang="en-US" sz="1150" dirty="0"/>
          </a:p>
        </p:txBody>
      </p:sp>
      <p:sp>
        <p:nvSpPr>
          <p:cNvPr id="21" name="Shape 19"/>
          <p:cNvSpPr/>
          <p:nvPr/>
        </p:nvSpPr>
        <p:spPr>
          <a:xfrm>
            <a:off x="2788920" y="2926080"/>
            <a:ext cx="6199632" cy="1627632"/>
          </a:xfrm>
          <a:prstGeom prst="rect">
            <a:avLst/>
          </a:prstGeom>
          <a:solidFill>
            <a:srgbClr val="3A6B9F">
              <a:alpha val="9000"/>
            </a:srgbClr>
          </a:solidFill>
          <a:ln/>
        </p:spPr>
      </p:sp>
      <p:sp>
        <p:nvSpPr>
          <p:cNvPr id="22" name="Shape 20"/>
          <p:cNvSpPr/>
          <p:nvPr/>
        </p:nvSpPr>
        <p:spPr>
          <a:xfrm>
            <a:off x="2788920" y="2926080"/>
            <a:ext cx="50292" cy="1627632"/>
          </a:xfrm>
          <a:prstGeom prst="rect">
            <a:avLst/>
          </a:prstGeom>
          <a:solidFill>
            <a:srgbClr val="3A6B9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biggest result for me is that what I wanted to do all over India — it can be spread in 15 days with awareness and collective action. This is my first-time experience."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3A6B9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Samarjit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Entrepreneur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Early Cohort</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3A6B9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3A6B9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Moved from ego to eco — realised he had been trying to do everything alone without building a team.</a:t>
            </a:r>
            <a:endParaRPr lang="en-US" sz="1150" dirty="0"/>
          </a:p>
        </p:txBody>
      </p:sp>
      <p:sp>
        <p:nvSpPr>
          <p:cNvPr id="15" name="Shape 13"/>
          <p:cNvSpPr/>
          <p:nvPr/>
        </p:nvSpPr>
        <p:spPr>
          <a:xfrm>
            <a:off x="2907792" y="1362456"/>
            <a:ext cx="256032" cy="256032"/>
          </a:xfrm>
          <a:prstGeom prst="ellipse">
            <a:avLst/>
          </a:prstGeom>
          <a:solidFill>
            <a:srgbClr val="3A6B9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Two conversations with the LFEF coaches fundamentally shifted the basis of his life and leadership.</a:t>
            </a:r>
            <a:endParaRPr lang="en-US" sz="1150" dirty="0"/>
          </a:p>
        </p:txBody>
      </p:sp>
      <p:sp>
        <p:nvSpPr>
          <p:cNvPr id="18" name="Shape 16"/>
          <p:cNvSpPr/>
          <p:nvPr/>
        </p:nvSpPr>
        <p:spPr>
          <a:xfrm>
            <a:off x="2907792" y="2139696"/>
            <a:ext cx="256032" cy="256032"/>
          </a:xfrm>
          <a:prstGeom prst="ellipse">
            <a:avLst/>
          </a:prstGeom>
          <a:solidFill>
            <a:srgbClr val="3A6B9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Tangible business result: booked almost ₹1 crore in orders within the last month of his participation.</a:t>
            </a:r>
            <a:endParaRPr lang="en-US" sz="1150" dirty="0"/>
          </a:p>
        </p:txBody>
      </p:sp>
      <p:sp>
        <p:nvSpPr>
          <p:cNvPr id="21" name="Shape 19"/>
          <p:cNvSpPr/>
          <p:nvPr/>
        </p:nvSpPr>
        <p:spPr>
          <a:xfrm>
            <a:off x="2788920" y="2926080"/>
            <a:ext cx="6199632" cy="1627632"/>
          </a:xfrm>
          <a:prstGeom prst="rect">
            <a:avLst/>
          </a:prstGeom>
          <a:solidFill>
            <a:srgbClr val="3A6B9F">
              <a:alpha val="9000"/>
            </a:srgbClr>
          </a:solidFill>
          <a:ln/>
        </p:spPr>
      </p:sp>
      <p:sp>
        <p:nvSpPr>
          <p:cNvPr id="22" name="Shape 20"/>
          <p:cNvSpPr/>
          <p:nvPr/>
        </p:nvSpPr>
        <p:spPr>
          <a:xfrm>
            <a:off x="2788920" y="2926080"/>
            <a:ext cx="50292" cy="1627632"/>
          </a:xfrm>
          <a:prstGeom prst="rect">
            <a:avLst/>
          </a:prstGeom>
          <a:solidFill>
            <a:srgbClr val="3A6B9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"It was all about me — I moved from ego to eco. I was thinking I could do everything alone. Two conversations with Manoj and Vivek moved my life on a completely different basis."</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3A6B9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Rajiv</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LFEF 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Early Cohort</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3A6B9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3A6B9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Listening from the heart — no longer from judgment or criticism; began listening for what is hidden and emerging.</a:t>
            </a:r>
            <a:endParaRPr lang="en-US" sz="1150" dirty="0"/>
          </a:p>
        </p:txBody>
      </p:sp>
      <p:sp>
        <p:nvSpPr>
          <p:cNvPr id="15" name="Shape 13"/>
          <p:cNvSpPr/>
          <p:nvPr/>
        </p:nvSpPr>
        <p:spPr>
          <a:xfrm>
            <a:off x="2907792" y="1362456"/>
            <a:ext cx="256032" cy="256032"/>
          </a:xfrm>
          <a:prstGeom prst="ellipse">
            <a:avLst/>
          </a:prstGeom>
          <a:solidFill>
            <a:srgbClr val="3A6B9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Becoming conscious of signs from the universe: sensing what wants to emerge beyond the visible.</a:t>
            </a:r>
            <a:endParaRPr lang="en-US" sz="1150" dirty="0"/>
          </a:p>
        </p:txBody>
      </p:sp>
      <p:sp>
        <p:nvSpPr>
          <p:cNvPr id="18" name="Shape 16"/>
          <p:cNvSpPr/>
          <p:nvPr/>
        </p:nvSpPr>
        <p:spPr>
          <a:xfrm>
            <a:off x="2907792" y="2139696"/>
            <a:ext cx="256032" cy="256032"/>
          </a:xfrm>
          <a:prstGeom prst="ellipse">
            <a:avLst/>
          </a:prstGeom>
          <a:solidFill>
            <a:srgbClr val="3A6B9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Creating prototypes and allowing the team to co-create — stopped being the sole authority.</a:t>
            </a:r>
            <a:endParaRPr lang="en-US" sz="1150" dirty="0"/>
          </a:p>
        </p:txBody>
      </p:sp>
      <p:sp>
        <p:nvSpPr>
          <p:cNvPr id="21" name="Shape 19"/>
          <p:cNvSpPr/>
          <p:nvPr/>
        </p:nvSpPr>
        <p:spPr>
          <a:xfrm>
            <a:off x="2788920" y="2926080"/>
            <a:ext cx="6199632" cy="1627632"/>
          </a:xfrm>
          <a:prstGeom prst="rect">
            <a:avLst/>
          </a:prstGeom>
          <a:solidFill>
            <a:srgbClr val="3A6B9F">
              <a:alpha val="9000"/>
            </a:srgbClr>
          </a:solidFill>
          <a:ln/>
        </p:spPr>
      </p:sp>
      <p:sp>
        <p:nvSpPr>
          <p:cNvPr id="22" name="Shape 20"/>
          <p:cNvSpPr/>
          <p:nvPr/>
        </p:nvSpPr>
        <p:spPr>
          <a:xfrm>
            <a:off x="2788920" y="2926080"/>
            <a:ext cx="50292" cy="1627632"/>
          </a:xfrm>
          <a:prstGeom prst="rect">
            <a:avLst/>
          </a:prstGeom>
          <a:solidFill>
            <a:srgbClr val="3A6B9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am present to an emerging future — a different view, hidden from my current vision. I am also getting conscious about listening to the signs from the universe."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3A6B9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Prashant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LFEF 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(20-Year Dream Now in Action)</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Early Cohort</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3A6B9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3A6B9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Integrated head, heart and hand — the hand (action) had never actually moved before this program.</a:t>
            </a:r>
            <a:endParaRPr lang="en-US" sz="1150" dirty="0"/>
          </a:p>
        </p:txBody>
      </p:sp>
      <p:sp>
        <p:nvSpPr>
          <p:cNvPr id="15" name="Shape 13"/>
          <p:cNvSpPr/>
          <p:nvPr/>
        </p:nvSpPr>
        <p:spPr>
          <a:xfrm>
            <a:off x="2907792" y="1362456"/>
            <a:ext cx="256032" cy="256032"/>
          </a:xfrm>
          <a:prstGeom prst="ellipse">
            <a:avLst/>
          </a:prstGeom>
          <a:solidFill>
            <a:srgbClr val="3A6B9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20-year-old dream finally began to move in the last week of his participation.</a:t>
            </a:r>
            <a:endParaRPr lang="en-US" sz="1150" dirty="0"/>
          </a:p>
        </p:txBody>
      </p:sp>
      <p:sp>
        <p:nvSpPr>
          <p:cNvPr id="18" name="Shape 16"/>
          <p:cNvSpPr/>
          <p:nvPr/>
        </p:nvSpPr>
        <p:spPr>
          <a:xfrm>
            <a:off x="2907792" y="2139696"/>
            <a:ext cx="256032" cy="256032"/>
          </a:xfrm>
          <a:prstGeom prst="ellipse">
            <a:avLst/>
          </a:prstGeom>
          <a:solidFill>
            <a:srgbClr val="3A6B9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Six principles and the listening — committed to going forward with this foundation in place.</a:t>
            </a:r>
            <a:endParaRPr lang="en-US" sz="1150" dirty="0"/>
          </a:p>
        </p:txBody>
      </p:sp>
      <p:sp>
        <p:nvSpPr>
          <p:cNvPr id="21" name="Shape 19"/>
          <p:cNvSpPr/>
          <p:nvPr/>
        </p:nvSpPr>
        <p:spPr>
          <a:xfrm>
            <a:off x="2788920" y="2926080"/>
            <a:ext cx="6199632" cy="1627632"/>
          </a:xfrm>
          <a:prstGeom prst="rect">
            <a:avLst/>
          </a:prstGeom>
          <a:solidFill>
            <a:srgbClr val="3A6B9F">
              <a:alpha val="9000"/>
            </a:srgbClr>
          </a:solidFill>
          <a:ln/>
        </p:spPr>
      </p:sp>
      <p:sp>
        <p:nvSpPr>
          <p:cNvPr id="22" name="Shape 20"/>
          <p:cNvSpPr/>
          <p:nvPr/>
        </p:nvSpPr>
        <p:spPr>
          <a:xfrm>
            <a:off x="2788920" y="2926080"/>
            <a:ext cx="50292" cy="1627632"/>
          </a:xfrm>
          <a:prstGeom prst="rect">
            <a:avLst/>
          </a:prstGeom>
          <a:solidFill>
            <a:srgbClr val="3A6B9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hand actually started moving last week. The intention for me to join this program was to start something that has been a dream for the last 20 years."</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3A6B9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Joy Perreras</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Leadership Development Practitioner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United States</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(Philippines Connection)</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Early Cohort</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3A6B9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3A6B9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Levels of listening and fields of conversation — the most profound shift, improving ease in all communication.</a:t>
            </a:r>
            <a:endParaRPr lang="en-US" sz="1150" dirty="0"/>
          </a:p>
        </p:txBody>
      </p:sp>
      <p:sp>
        <p:nvSpPr>
          <p:cNvPr id="15" name="Shape 13"/>
          <p:cNvSpPr/>
          <p:nvPr/>
        </p:nvSpPr>
        <p:spPr>
          <a:xfrm>
            <a:off x="2907792" y="1362456"/>
            <a:ext cx="256032" cy="256032"/>
          </a:xfrm>
          <a:prstGeom prst="ellipse">
            <a:avLst/>
          </a:prstGeom>
          <a:solidFill>
            <a:srgbClr val="3A6B9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Developed greater compassion for herself in how she thinks and views situations.</a:t>
            </a:r>
            <a:endParaRPr lang="en-US" sz="1150" dirty="0"/>
          </a:p>
        </p:txBody>
      </p:sp>
      <p:sp>
        <p:nvSpPr>
          <p:cNvPr id="18" name="Shape 16"/>
          <p:cNvSpPr/>
          <p:nvPr/>
        </p:nvSpPr>
        <p:spPr>
          <a:xfrm>
            <a:off x="2907792" y="2139696"/>
            <a:ext cx="256032" cy="256032"/>
          </a:xfrm>
          <a:prstGeom prst="ellipse">
            <a:avLst/>
          </a:prstGeom>
          <a:solidFill>
            <a:srgbClr val="3A6B9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Unexpected collaboration: invited by nine women to co-create a physical and spiritual growth program.</a:t>
            </a:r>
            <a:endParaRPr lang="en-US" sz="1150" dirty="0"/>
          </a:p>
        </p:txBody>
      </p:sp>
      <p:sp>
        <p:nvSpPr>
          <p:cNvPr id="21" name="Shape 19"/>
          <p:cNvSpPr/>
          <p:nvPr/>
        </p:nvSpPr>
        <p:spPr>
          <a:xfrm>
            <a:off x="2788920" y="2926080"/>
            <a:ext cx="6199632" cy="1627632"/>
          </a:xfrm>
          <a:prstGeom prst="rect">
            <a:avLst/>
          </a:prstGeom>
          <a:solidFill>
            <a:srgbClr val="3A6B9F">
              <a:alpha val="9000"/>
            </a:srgbClr>
          </a:solidFill>
          <a:ln/>
        </p:spPr>
      </p:sp>
      <p:sp>
        <p:nvSpPr>
          <p:cNvPr id="22" name="Shape 20"/>
          <p:cNvSpPr/>
          <p:nvPr/>
        </p:nvSpPr>
        <p:spPr>
          <a:xfrm>
            <a:off x="2788920" y="2926080"/>
            <a:ext cx="50292" cy="1627632"/>
          </a:xfrm>
          <a:prstGeom prst="rect">
            <a:avLst/>
          </a:prstGeom>
          <a:solidFill>
            <a:srgbClr val="3A6B9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greatest impact was on conversations — levels of listening created so much greater ways for me to be at ease in any kind of communication, from personal to professional to my global purpose."</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3A6B9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Surya Ramchandran</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Early Cohort</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3A6B9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3A6B9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Practiced moving from Level 1 listening to Level 2, 3, and 4 — a tangible shift in depth of presence.</a:t>
            </a:r>
            <a:endParaRPr lang="en-US" sz="1150" dirty="0"/>
          </a:p>
        </p:txBody>
      </p:sp>
      <p:sp>
        <p:nvSpPr>
          <p:cNvPr id="15" name="Shape 13"/>
          <p:cNvSpPr/>
          <p:nvPr/>
        </p:nvSpPr>
        <p:spPr>
          <a:xfrm>
            <a:off x="2907792" y="1362456"/>
            <a:ext cx="256032" cy="256032"/>
          </a:xfrm>
          <a:prstGeom prst="ellipse">
            <a:avLst/>
          </a:prstGeom>
          <a:solidFill>
            <a:srgbClr val="3A6B9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Became less judgmental and pedantic in conversation — a visible character change over a few months.</a:t>
            </a:r>
            <a:endParaRPr lang="en-US" sz="1150" dirty="0"/>
          </a:p>
        </p:txBody>
      </p:sp>
      <p:sp>
        <p:nvSpPr>
          <p:cNvPr id="18" name="Shape 16"/>
          <p:cNvSpPr/>
          <p:nvPr/>
        </p:nvSpPr>
        <p:spPr>
          <a:xfrm>
            <a:off x="2907792" y="2139696"/>
            <a:ext cx="256032" cy="256032"/>
          </a:xfrm>
          <a:prstGeom prst="ellipse">
            <a:avLst/>
          </a:prstGeom>
          <a:solidFill>
            <a:srgbClr val="3A6B9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Saw the diversity of application: each participant finds their own way into the same principles.</a:t>
            </a:r>
            <a:endParaRPr lang="en-US" sz="1150" dirty="0"/>
          </a:p>
        </p:txBody>
      </p:sp>
      <p:sp>
        <p:nvSpPr>
          <p:cNvPr id="21" name="Shape 19"/>
          <p:cNvSpPr/>
          <p:nvPr/>
        </p:nvSpPr>
        <p:spPr>
          <a:xfrm>
            <a:off x="2788920" y="2926080"/>
            <a:ext cx="6199632" cy="1627632"/>
          </a:xfrm>
          <a:prstGeom prst="rect">
            <a:avLst/>
          </a:prstGeom>
          <a:solidFill>
            <a:srgbClr val="3A6B9F">
              <a:alpha val="9000"/>
            </a:srgbClr>
          </a:solidFill>
          <a:ln/>
        </p:spPr>
      </p:sp>
      <p:sp>
        <p:nvSpPr>
          <p:cNvPr id="22" name="Shape 20"/>
          <p:cNvSpPr/>
          <p:nvPr/>
        </p:nvSpPr>
        <p:spPr>
          <a:xfrm>
            <a:off x="2788920" y="2926080"/>
            <a:ext cx="50292" cy="1627632"/>
          </a:xfrm>
          <a:prstGeom prst="rect">
            <a:avLst/>
          </a:prstGeom>
          <a:solidFill>
            <a:srgbClr val="3A6B9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have seen a change in my character and just who I am over these last couple of months. I found the ability to listen better and not be judgmental the way I normally would be."</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3A6B9F"/>
          </a:solidFill>
          <a:ln/>
        </p:spPr>
      </p:sp>
      <p:sp>
        <p:nvSpPr>
          <p:cNvPr id="3" name="Text 1"/>
          <p:cNvSpPr/>
          <p:nvPr/>
        </p:nvSpPr>
        <p:spPr>
          <a:xfrm>
            <a:off x="320040" y="0"/>
            <a:ext cx="7772400" cy="59436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Philippines LFEF Alumni — 2019 Workshop</a:t>
            </a:r>
            <a:endParaRPr lang="en-US" sz="1500" dirty="0"/>
          </a:p>
        </p:txBody>
      </p:sp>
      <p:sp>
        <p:nvSpPr>
          <p:cNvPr id="4" name="Text 2"/>
          <p:cNvSpPr/>
          <p:nvPr/>
        </p:nvSpPr>
        <p:spPr>
          <a:xfrm>
            <a:off x="320040" y="658368"/>
            <a:ext cx="8503920" cy="329184"/>
          </a:xfrm>
          <a:prstGeom prst="rect">
            <a:avLst/>
          </a:prstGeom>
          <a:noFill/>
          <a:ln/>
        </p:spPr>
        <p:txBody>
          <a:bodyPr wrap="square" rtlCol="0" anchor="ctr"/>
          <a:lstStyle/>
          <a:p>
            <a:pPr indent="0" marL="0">
              <a:buNone/>
            </a:pPr>
            <a:r>
              <a:rPr lang="en-US" sz="1100" i="1" dirty="0">
                <a:solidFill>
                  <a:srgbClr val="3A6B9F"/>
                </a:solidFill>
                <a:latin typeface="Calibri" pitchFamily="34" charset="0"/>
                <a:ea typeface="Calibri" pitchFamily="34" charset="-122"/>
                <a:cs typeface="Calibri" pitchFamily="34" charset="-120"/>
              </a:rPr>
              <a:t>Multiple participants sharing from the Manila workshop — voices of transformation from the Philippines</a:t>
            </a:r>
            <a:endParaRPr lang="en-US" sz="1100" dirty="0"/>
          </a:p>
        </p:txBody>
      </p:sp>
      <p:sp>
        <p:nvSpPr>
          <p:cNvPr id="5" name="Shape 3"/>
          <p:cNvSpPr/>
          <p:nvPr/>
        </p:nvSpPr>
        <p:spPr>
          <a:xfrm>
            <a:off x="0" y="1024128"/>
            <a:ext cx="9144000" cy="36576"/>
          </a:xfrm>
          <a:prstGeom prst="rect">
            <a:avLst/>
          </a:prstGeom>
          <a:solidFill>
            <a:srgbClr val="EEF4F9"/>
          </a:solidFill>
          <a:ln/>
        </p:spPr>
      </p:sp>
      <p:sp>
        <p:nvSpPr>
          <p:cNvPr id="6" name="Shape 4"/>
          <p:cNvSpPr/>
          <p:nvPr/>
        </p:nvSpPr>
        <p:spPr>
          <a:xfrm>
            <a:off x="274320" y="1115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7" name="Shape 5"/>
          <p:cNvSpPr/>
          <p:nvPr/>
        </p:nvSpPr>
        <p:spPr>
          <a:xfrm>
            <a:off x="274320" y="1115568"/>
            <a:ext cx="73152" cy="1005840"/>
          </a:xfrm>
          <a:prstGeom prst="rect">
            <a:avLst/>
          </a:prstGeom>
          <a:solidFill>
            <a:srgbClr val="3A6B9F"/>
          </a:solidFill>
          <a:ln/>
        </p:spPr>
      </p:sp>
      <p:sp>
        <p:nvSpPr>
          <p:cNvPr id="8" name="Text 6"/>
          <p:cNvSpPr/>
          <p:nvPr/>
        </p:nvSpPr>
        <p:spPr>
          <a:xfrm>
            <a:off x="457200" y="1179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1 — Leadership as Love</a:t>
            </a:r>
            <a:endParaRPr lang="en-US" sz="1100" dirty="0"/>
          </a:p>
        </p:txBody>
      </p:sp>
      <p:sp>
        <p:nvSpPr>
          <p:cNvPr id="9" name="Text 7"/>
          <p:cNvSpPr/>
          <p:nvPr/>
        </p:nvSpPr>
        <p:spPr>
          <a:xfrm>
            <a:off x="457200" y="1463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Realised leadership comes from the heart, not the mind. When physically weak but open — that's authentic love. Leadership is not about who you are, it's about the people you move.</a:t>
            </a:r>
            <a:endParaRPr lang="en-US" sz="950" dirty="0"/>
          </a:p>
        </p:txBody>
      </p:sp>
      <p:sp>
        <p:nvSpPr>
          <p:cNvPr id="10" name="Shape 8"/>
          <p:cNvSpPr/>
          <p:nvPr/>
        </p:nvSpPr>
        <p:spPr>
          <a:xfrm>
            <a:off x="4709160" y="1115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1" name="Shape 9"/>
          <p:cNvSpPr/>
          <p:nvPr/>
        </p:nvSpPr>
        <p:spPr>
          <a:xfrm>
            <a:off x="4709160" y="1115568"/>
            <a:ext cx="73152" cy="1005840"/>
          </a:xfrm>
          <a:prstGeom prst="rect">
            <a:avLst/>
          </a:prstGeom>
          <a:solidFill>
            <a:srgbClr val="3A6B9F"/>
          </a:solidFill>
          <a:ln/>
        </p:spPr>
      </p:sp>
      <p:sp>
        <p:nvSpPr>
          <p:cNvPr id="12" name="Text 10"/>
          <p:cNvSpPr/>
          <p:nvPr/>
        </p:nvSpPr>
        <p:spPr>
          <a:xfrm>
            <a:off x="4892040" y="1179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2 — Intention Clarified</a:t>
            </a:r>
            <a:endParaRPr lang="en-US" sz="1100" dirty="0"/>
          </a:p>
        </p:txBody>
      </p:sp>
      <p:sp>
        <p:nvSpPr>
          <p:cNvPr id="13" name="Text 11"/>
          <p:cNvSpPr/>
          <p:nvPr/>
        </p:nvSpPr>
        <p:spPr>
          <a:xfrm>
            <a:off x="4892040" y="1463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Two days ignited something that had always been there. Identified intention as the missing piece — without it, direction is lost. Now sees how to become bigger in leadership.</a:t>
            </a:r>
            <a:endParaRPr lang="en-US" sz="950" dirty="0"/>
          </a:p>
        </p:txBody>
      </p:sp>
      <p:sp>
        <p:nvSpPr>
          <p:cNvPr id="14" name="Shape 12"/>
          <p:cNvSpPr/>
          <p:nvPr/>
        </p:nvSpPr>
        <p:spPr>
          <a:xfrm>
            <a:off x="274320" y="2258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5" name="Shape 13"/>
          <p:cNvSpPr/>
          <p:nvPr/>
        </p:nvSpPr>
        <p:spPr>
          <a:xfrm>
            <a:off x="274320" y="2258568"/>
            <a:ext cx="73152" cy="1005840"/>
          </a:xfrm>
          <a:prstGeom prst="rect">
            <a:avLst/>
          </a:prstGeom>
          <a:solidFill>
            <a:srgbClr val="3A6B9F"/>
          </a:solidFill>
          <a:ln/>
        </p:spPr>
      </p:sp>
      <p:sp>
        <p:nvSpPr>
          <p:cNvPr id="16" name="Text 14"/>
          <p:cNvSpPr/>
          <p:nvPr/>
        </p:nvSpPr>
        <p:spPr>
          <a:xfrm>
            <a:off x="457200" y="2322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3 — It's Not About Me</a:t>
            </a:r>
            <a:endParaRPr lang="en-US" sz="1100" dirty="0"/>
          </a:p>
        </p:txBody>
      </p:sp>
      <p:sp>
        <p:nvSpPr>
          <p:cNvPr id="17" name="Text 15"/>
          <p:cNvSpPr/>
          <p:nvPr/>
        </p:nvSpPr>
        <p:spPr>
          <a:xfrm>
            <a:off x="457200" y="2606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Realised leadership had become a way to feel significant. When the shift happened — 'it was never about me' — a whole team of angels was suddenly visible all along.</a:t>
            </a:r>
            <a:endParaRPr lang="en-US" sz="950" dirty="0"/>
          </a:p>
        </p:txBody>
      </p:sp>
      <p:sp>
        <p:nvSpPr>
          <p:cNvPr id="18" name="Shape 16"/>
          <p:cNvSpPr/>
          <p:nvPr/>
        </p:nvSpPr>
        <p:spPr>
          <a:xfrm>
            <a:off x="4709160" y="2258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9" name="Shape 17"/>
          <p:cNvSpPr/>
          <p:nvPr/>
        </p:nvSpPr>
        <p:spPr>
          <a:xfrm>
            <a:off x="4709160" y="2258568"/>
            <a:ext cx="73152" cy="1005840"/>
          </a:xfrm>
          <a:prstGeom prst="rect">
            <a:avLst/>
          </a:prstGeom>
          <a:solidFill>
            <a:srgbClr val="3A6B9F"/>
          </a:solidFill>
          <a:ln/>
        </p:spPr>
      </p:sp>
      <p:sp>
        <p:nvSpPr>
          <p:cNvPr id="20" name="Text 18"/>
          <p:cNvSpPr/>
          <p:nvPr/>
        </p:nvSpPr>
        <p:spPr>
          <a:xfrm>
            <a:off x="4892040" y="2322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4 — Empathy Walk</a:t>
            </a:r>
            <a:endParaRPr lang="en-US" sz="1100" dirty="0"/>
          </a:p>
        </p:txBody>
      </p:sp>
      <p:sp>
        <p:nvSpPr>
          <p:cNvPr id="21" name="Text 19"/>
          <p:cNvSpPr/>
          <p:nvPr/>
        </p:nvSpPr>
        <p:spPr>
          <a:xfrm>
            <a:off x="4892040" y="2606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Understood there is so much hunger to be listened to. Gained the capacity to create space and move conversations forward from her highest self.</a:t>
            </a:r>
            <a:endParaRPr lang="en-US" sz="950" dirty="0"/>
          </a:p>
        </p:txBody>
      </p:sp>
      <p:sp>
        <p:nvSpPr>
          <p:cNvPr id="22" name="Shape 20"/>
          <p:cNvSpPr/>
          <p:nvPr/>
        </p:nvSpPr>
        <p:spPr>
          <a:xfrm>
            <a:off x="274320" y="3401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23" name="Shape 21"/>
          <p:cNvSpPr/>
          <p:nvPr/>
        </p:nvSpPr>
        <p:spPr>
          <a:xfrm>
            <a:off x="274320" y="3401568"/>
            <a:ext cx="73152" cy="1005840"/>
          </a:xfrm>
          <a:prstGeom prst="rect">
            <a:avLst/>
          </a:prstGeom>
          <a:solidFill>
            <a:srgbClr val="3A6B9F"/>
          </a:solidFill>
          <a:ln/>
        </p:spPr>
      </p:sp>
      <p:sp>
        <p:nvSpPr>
          <p:cNvPr id="24" name="Text 22"/>
          <p:cNvSpPr/>
          <p:nvPr/>
        </p:nvSpPr>
        <p:spPr>
          <a:xfrm>
            <a:off x="457200" y="3465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5 — Servant Leadership</a:t>
            </a:r>
            <a:endParaRPr lang="en-US" sz="1100" dirty="0"/>
          </a:p>
        </p:txBody>
      </p:sp>
      <p:sp>
        <p:nvSpPr>
          <p:cNvPr id="25" name="Text 23"/>
          <p:cNvSpPr/>
          <p:nvPr/>
        </p:nvSpPr>
        <p:spPr>
          <a:xfrm>
            <a:off x="457200" y="3749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Leadership is not about being the boss — it's about serving. You must know the people you lead: what they're going through, where they come from.</a:t>
            </a:r>
            <a:endParaRPr lang="en-US" sz="950" dirty="0"/>
          </a:p>
        </p:txBody>
      </p:sp>
      <p:sp>
        <p:nvSpPr>
          <p:cNvPr id="26" name="Shape 24"/>
          <p:cNvSpPr/>
          <p:nvPr/>
        </p:nvSpPr>
        <p:spPr>
          <a:xfrm>
            <a:off x="4709160" y="3401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27" name="Shape 25"/>
          <p:cNvSpPr/>
          <p:nvPr/>
        </p:nvSpPr>
        <p:spPr>
          <a:xfrm>
            <a:off x="4709160" y="3401568"/>
            <a:ext cx="73152" cy="1005840"/>
          </a:xfrm>
          <a:prstGeom prst="rect">
            <a:avLst/>
          </a:prstGeom>
          <a:solidFill>
            <a:srgbClr val="3A6B9F"/>
          </a:solidFill>
          <a:ln/>
        </p:spPr>
      </p:sp>
      <p:sp>
        <p:nvSpPr>
          <p:cNvPr id="28" name="Text 26"/>
          <p:cNvSpPr/>
          <p:nvPr/>
        </p:nvSpPr>
        <p:spPr>
          <a:xfrm>
            <a:off x="4892040" y="3465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6 — Levels of Listening</a:t>
            </a:r>
            <a:endParaRPr lang="en-US" sz="1100" dirty="0"/>
          </a:p>
        </p:txBody>
      </p:sp>
      <p:sp>
        <p:nvSpPr>
          <p:cNvPr id="29" name="Text 27"/>
          <p:cNvSpPr/>
          <p:nvPr/>
        </p:nvSpPr>
        <p:spPr>
          <a:xfrm>
            <a:off x="4892040" y="3749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The levels of listening made a difference in all relationships — at work and home. Recognised absencing at play in a family situation and began the inquiry to address it.</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5A4898">
              <a:alpha val="17000"/>
            </a:srgbClr>
          </a:solidFill>
          <a:ln/>
        </p:spPr>
      </p:sp>
      <p:sp>
        <p:nvSpPr>
          <p:cNvPr id="3" name="Shape 1"/>
          <p:cNvSpPr/>
          <p:nvPr/>
        </p:nvSpPr>
        <p:spPr>
          <a:xfrm>
            <a:off x="0" y="1901952"/>
            <a:ext cx="411480" cy="1325880"/>
          </a:xfrm>
          <a:prstGeom prst="rect">
            <a:avLst/>
          </a:prstGeom>
          <a:solidFill>
            <a:srgbClr val="5A4898"/>
          </a:solidFill>
          <a:ln/>
        </p:spPr>
      </p:sp>
      <p:sp>
        <p:nvSpPr>
          <p:cNvPr id="4" name="Shape 2"/>
          <p:cNvSpPr/>
          <p:nvPr/>
        </p:nvSpPr>
        <p:spPr>
          <a:xfrm>
            <a:off x="6583680" y="182880"/>
            <a:ext cx="3200400" cy="3200400"/>
          </a:xfrm>
          <a:prstGeom prst="ellipse">
            <a:avLst/>
          </a:prstGeom>
          <a:solidFill>
            <a:srgbClr val="5A4898">
              <a:alpha val="12000"/>
            </a:srgbClr>
          </a:solidFill>
          <a:ln w="12700">
            <a:solidFill>
              <a:srgbClr val="5A4898"/>
            </a:solidFill>
            <a:prstDash val="solid"/>
          </a:ln>
        </p:spPr>
      </p:sp>
      <p:sp>
        <p:nvSpPr>
          <p:cNvPr id="5" name="Shape 3"/>
          <p:cNvSpPr/>
          <p:nvPr/>
        </p:nvSpPr>
        <p:spPr>
          <a:xfrm>
            <a:off x="-731520" y="3383280"/>
            <a:ext cx="2560320" cy="2560320"/>
          </a:xfrm>
          <a:prstGeom prst="ellipse">
            <a:avLst/>
          </a:prstGeom>
          <a:solidFill>
            <a:srgbClr val="5A4898">
              <a:alpha val="13000"/>
            </a:srgbClr>
          </a:solidFill>
          <a:ln w="12700">
            <a:solidFill>
              <a:srgbClr val="5A4898"/>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LFEF – 2022–2023 Cohorts</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5A4898"/>
                </a:solidFill>
                <a:latin typeface="Calibri" pitchFamily="34" charset="0"/>
                <a:ea typeface="Calibri" pitchFamily="34" charset="-122"/>
                <a:cs typeface="Calibri" pitchFamily="34" charset="-120"/>
              </a:rPr>
              <a:t>Participants from the March 2023 seminar series and Cohort 29 &amp; 30</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Dr. Ravi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Physician &amp; Healthcare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Transforming Self – February 2022</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Relationships transformed completely — with children, hospital staff, parents, and siblings. Free expression now flows naturally.</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Largest challenges dissolved 'just like that' — as if they were never there, without effort or struggle.</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Ignited a big dream: transforming healthcare to reach everyone cost-effectively — once impossible, now beginning to happen.</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"When the identity of the small self disappears, inside of that, many things get accomplished. The biggest challenges just dissolve — as if they were never there at all."</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Mona Bhalla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Entrepreneur – Women's Clothing</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Delhi</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(Self-Employed, Customising Women's Clothing)</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workshop helped reveal her actual self — the persistent question 'who am I and what is my purpose?' was finally answered.</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Practiced empathy walk, downloading awareness, and stakeholder interviews — visible shift in her relationship with herself.</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Reached the state of being the highest self — co-creating with as many people as possible.</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"This workshop has done a lot of good things for me. I've come to terms with reality — I am the highest self. And to co-create, I need to connect with as many people as possible."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Vijay Kumar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Group Chief Executive Officer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Western Thompson India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Chennai</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three divides (ecological, economic, spiritual) became a prism — every action is now assessed through 'is it increasing or reducing the divide?'</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Paradigm shift: the past is not a guide to the future. The future is emerging and must be sensed from others' perspectives.</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Discovered his higher self as empathy and contribution — like sunlight, it doesn't discriminate. Everything else is the drama of the smaller self.</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"My higher self is like sunlight — it puts light everywhere without stopping. When I'm reminded of my higher self, everything else reveals itself as drama. And there is immense peace."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Ravi Agarwal</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Jaipur</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Learned deep listening with curiosity — stopping the mind from suggesting solutions while others are speaking.</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Freed himself from fixing himself and from fixing others — stopped being judgmental, started connecting to his higher self.</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Reflection on purpose: asking whether his work bridges the gap or extends the graph for a better world.</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"I've learned to free myself from fixing myself and from fixing others. I've stopped being judgmental and started to connect to my higher self."</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Sucharita Eashwar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Founder &amp; CEO</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Ecosystem for Women Entrepreneurs</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(Startup &amp; Scale-up, Across India)</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Became aware of the small self and the real self — and how she had been alternating between the two without knowing it.</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Created a possibility: a life of joy, freedom and abundance — for herself, her family, her team, and every entrepreneur she meets.</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Witnessing the transformation unfold in real time — it is not a concept; she can see it in her world.</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created the possibility of a life of joy, freedom and abundance for me and for all those around me. And I am now witnessing my world in the process of transforming to that."</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Manoj Kumar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LFEF 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Learned deep listening with curiosity and suspending all judgments — a foundational shift in how he engages with others.</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Came to know who he is and what his work is — connected with his higher self through the program's inquiry.</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Identity created: 'I am energy and I spread energy all around.' Co-creating the future through deep listening.</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come to know who I am and what is my work. We can co-create the future with people through deep listening. I am energy — and I spread energy all around."</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Shylaja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Retired Lecturer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Bangalore</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(LFEF Cohort 29 &amp; 30)</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Cohort 29 &amp; 30</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Was initially resistant — felt she knew these things. Then discovered the difference between listening and listening from the heart.</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Met cousins after 30 years and simply listened without judgment or downloading — a profound and releasing experience.</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Insight: 'keep emitting light like the sun' — and always live in awareness, returning to the highest self when she drifts.</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stopped downloading and was a good listener — but I was able to differentiate, for the first time, listening from the heart. That was the change in me."</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Gavya Mehta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Automation Engineer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Delhi</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Deep listening through empathy walk: for the first time, heard not the criticism of a person but felt their concern instead.</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interviews helped bridge miscommunication with colleagues and owners — now co-building something great together.</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Case clinic and the heart: when the brain gets out of the way, the heart produces something entirely different.</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"When I started actually listening — for the first time — I was not hearing criticism. I was able to feel the concern of that person instead."</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Siddharth Surana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Nashik</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Suspended downloading: stopped allowing the mind to suggest solutions while others speak — listening rose to a whole new level.</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Stopped fixing people, stopped fixing situations — switched to 'just listen, listen, listen.'</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Case clinic worked without the brain — 'it works with the heart and I don't know what happened but it's magical.'</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stopped fixing people, fixing situations, fixing everything. I just listen, listen, listen. Case clinic works without the brain — it works with the heart and it's magical."</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5A489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Gurpreet Kaur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Organisation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Faridabad</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(Action in Community &amp; Training — Environmental Consciousness)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LFEF – March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5A489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5A489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Attracted by 'ego to eco consciousness' — and the workshop took her into deep personal reflection on where she had lost herself.</a:t>
            </a:r>
            <a:endParaRPr lang="en-US" sz="1150" dirty="0"/>
          </a:p>
        </p:txBody>
      </p:sp>
      <p:sp>
        <p:nvSpPr>
          <p:cNvPr id="15" name="Shape 13"/>
          <p:cNvSpPr/>
          <p:nvPr/>
        </p:nvSpPr>
        <p:spPr>
          <a:xfrm>
            <a:off x="2907792" y="1362456"/>
            <a:ext cx="256032" cy="256032"/>
          </a:xfrm>
          <a:prstGeom prst="ellipse">
            <a:avLst/>
          </a:prstGeom>
          <a:solidFill>
            <a:srgbClr val="5A489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Discovering the higher self was a 'miraculous moment' — triggering awareness of what to hold, what to release, how to open mind, heart, and will.</a:t>
            </a:r>
            <a:endParaRPr lang="en-US" sz="1150" dirty="0"/>
          </a:p>
        </p:txBody>
      </p:sp>
      <p:sp>
        <p:nvSpPr>
          <p:cNvPr id="18" name="Shape 16"/>
          <p:cNvSpPr/>
          <p:nvPr/>
        </p:nvSpPr>
        <p:spPr>
          <a:xfrm>
            <a:off x="2907792" y="2139696"/>
            <a:ext cx="256032" cy="256032"/>
          </a:xfrm>
          <a:prstGeom prst="ellipse">
            <a:avLst/>
          </a:prstGeom>
          <a:solidFill>
            <a:srgbClr val="5A489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Still in the journey: becoming more aware of her words and of where she needs to listen more or step back.</a:t>
            </a:r>
            <a:endParaRPr lang="en-US" sz="1150" dirty="0"/>
          </a:p>
        </p:txBody>
      </p:sp>
      <p:sp>
        <p:nvSpPr>
          <p:cNvPr id="21" name="Shape 19"/>
          <p:cNvSpPr/>
          <p:nvPr/>
        </p:nvSpPr>
        <p:spPr>
          <a:xfrm>
            <a:off x="2788920" y="2926080"/>
            <a:ext cx="6199632" cy="1627632"/>
          </a:xfrm>
          <a:prstGeom prst="rect">
            <a:avLst/>
          </a:prstGeom>
          <a:solidFill>
            <a:srgbClr val="5A4898">
              <a:alpha val="9000"/>
            </a:srgbClr>
          </a:solidFill>
          <a:ln/>
        </p:spPr>
      </p:sp>
      <p:sp>
        <p:nvSpPr>
          <p:cNvPr id="22" name="Shape 20"/>
          <p:cNvSpPr/>
          <p:nvPr/>
        </p:nvSpPr>
        <p:spPr>
          <a:xfrm>
            <a:off x="2788920" y="2926080"/>
            <a:ext cx="50292" cy="1627632"/>
          </a:xfrm>
          <a:prstGeom prst="rect">
            <a:avLst/>
          </a:prstGeom>
          <a:solidFill>
            <a:srgbClr val="5A489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"Slowly, the seminar series helped me find myself again. And the day we discovered the higher self — that was a miraculous moment for me. I started becoming aware of myself."</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D95F5F">
              <a:alpha val="17000"/>
            </a:srgbClr>
          </a:solidFill>
          <a:ln/>
        </p:spPr>
      </p:sp>
      <p:sp>
        <p:nvSpPr>
          <p:cNvPr id="3" name="Shape 1"/>
          <p:cNvSpPr/>
          <p:nvPr/>
        </p:nvSpPr>
        <p:spPr>
          <a:xfrm>
            <a:off x="0" y="1901952"/>
            <a:ext cx="411480" cy="1325880"/>
          </a:xfrm>
          <a:prstGeom prst="rect">
            <a:avLst/>
          </a:prstGeom>
          <a:solidFill>
            <a:srgbClr val="D95F5F"/>
          </a:solidFill>
          <a:ln/>
        </p:spPr>
      </p:sp>
      <p:sp>
        <p:nvSpPr>
          <p:cNvPr id="4" name="Shape 2"/>
          <p:cNvSpPr/>
          <p:nvPr/>
        </p:nvSpPr>
        <p:spPr>
          <a:xfrm>
            <a:off x="6583680" y="182880"/>
            <a:ext cx="3200400" cy="3200400"/>
          </a:xfrm>
          <a:prstGeom prst="ellipse">
            <a:avLst/>
          </a:prstGeom>
          <a:solidFill>
            <a:srgbClr val="D95F5F">
              <a:alpha val="12000"/>
            </a:srgbClr>
          </a:solidFill>
          <a:ln w="12700">
            <a:solidFill>
              <a:srgbClr val="D95F5F"/>
            </a:solidFill>
            <a:prstDash val="solid"/>
          </a:ln>
        </p:spPr>
      </p:sp>
      <p:sp>
        <p:nvSpPr>
          <p:cNvPr id="5" name="Shape 3"/>
          <p:cNvSpPr/>
          <p:nvPr/>
        </p:nvSpPr>
        <p:spPr>
          <a:xfrm>
            <a:off x="-731520" y="3383280"/>
            <a:ext cx="2560320" cy="2560320"/>
          </a:xfrm>
          <a:prstGeom prst="ellipse">
            <a:avLst/>
          </a:prstGeom>
          <a:solidFill>
            <a:srgbClr val="D95F5F">
              <a:alpha val="13000"/>
            </a:srgbClr>
          </a:solidFill>
          <a:ln w="12700">
            <a:solidFill>
              <a:srgbClr val="D95F5F"/>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Transforming Self Workshops</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D95F5F"/>
                </a:solidFill>
                <a:latin typeface="Calibri" pitchFamily="34" charset="0"/>
                <a:ea typeface="Calibri" pitchFamily="34" charset="-122"/>
                <a:cs typeface="Calibri" pitchFamily="34" charset="-120"/>
              </a:rPr>
              <a:t>Personal transformation workshops — May 2022 cohort and April 2023 participants</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D95F5F"/>
          </a:solidFill>
          <a:ln/>
        </p:spPr>
      </p:sp>
      <p:sp>
        <p:nvSpPr>
          <p:cNvPr id="3" name="Text 1"/>
          <p:cNvSpPr/>
          <p:nvPr/>
        </p:nvSpPr>
        <p:spPr>
          <a:xfrm>
            <a:off x="320040" y="0"/>
            <a:ext cx="7772400" cy="59436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Transforming Self – May 2022 (Group Sharing)</a:t>
            </a:r>
            <a:endParaRPr lang="en-US" sz="1500" dirty="0"/>
          </a:p>
        </p:txBody>
      </p:sp>
      <p:sp>
        <p:nvSpPr>
          <p:cNvPr id="4" name="Text 2"/>
          <p:cNvSpPr/>
          <p:nvPr/>
        </p:nvSpPr>
        <p:spPr>
          <a:xfrm>
            <a:off x="320040" y="658368"/>
            <a:ext cx="8503920" cy="329184"/>
          </a:xfrm>
          <a:prstGeom prst="rect">
            <a:avLst/>
          </a:prstGeom>
          <a:noFill/>
          <a:ln/>
        </p:spPr>
        <p:txBody>
          <a:bodyPr wrap="square" rtlCol="0" anchor="ctr"/>
          <a:lstStyle/>
          <a:p>
            <a:pPr indent="0" marL="0">
              <a:buNone/>
            </a:pPr>
            <a:r>
              <a:rPr lang="en-US" sz="1100" i="1" dirty="0">
                <a:solidFill>
                  <a:srgbClr val="D95F5F"/>
                </a:solidFill>
                <a:latin typeface="Calibri" pitchFamily="34" charset="0"/>
                <a:ea typeface="Calibri" pitchFamily="34" charset="-122"/>
                <a:cs typeface="Calibri" pitchFamily="34" charset="-120"/>
              </a:rPr>
              <a:t>Multiple participants sharing their breakthroughs from the May 2022 cohort</a:t>
            </a:r>
            <a:endParaRPr lang="en-US" sz="1100" dirty="0"/>
          </a:p>
        </p:txBody>
      </p:sp>
      <p:sp>
        <p:nvSpPr>
          <p:cNvPr id="5" name="Shape 3"/>
          <p:cNvSpPr/>
          <p:nvPr/>
        </p:nvSpPr>
        <p:spPr>
          <a:xfrm>
            <a:off x="0" y="1024128"/>
            <a:ext cx="9144000" cy="36576"/>
          </a:xfrm>
          <a:prstGeom prst="rect">
            <a:avLst/>
          </a:prstGeom>
          <a:solidFill>
            <a:srgbClr val="EEF4F9"/>
          </a:solidFill>
          <a:ln/>
        </p:spPr>
      </p:sp>
      <p:sp>
        <p:nvSpPr>
          <p:cNvPr id="6" name="Shape 4"/>
          <p:cNvSpPr/>
          <p:nvPr/>
        </p:nvSpPr>
        <p:spPr>
          <a:xfrm>
            <a:off x="274320" y="1115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7" name="Shape 5"/>
          <p:cNvSpPr/>
          <p:nvPr/>
        </p:nvSpPr>
        <p:spPr>
          <a:xfrm>
            <a:off x="274320" y="1115568"/>
            <a:ext cx="73152" cy="1005840"/>
          </a:xfrm>
          <a:prstGeom prst="rect">
            <a:avLst/>
          </a:prstGeom>
          <a:solidFill>
            <a:srgbClr val="D95F5F"/>
          </a:solidFill>
          <a:ln/>
        </p:spPr>
      </p:sp>
      <p:sp>
        <p:nvSpPr>
          <p:cNvPr id="8" name="Text 6"/>
          <p:cNvSpPr/>
          <p:nvPr/>
        </p:nvSpPr>
        <p:spPr>
          <a:xfrm>
            <a:off x="457200" y="1179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Peace &amp; Freedom</a:t>
            </a:r>
            <a:endParaRPr lang="en-US" sz="1100" dirty="0"/>
          </a:p>
        </p:txBody>
      </p:sp>
      <p:sp>
        <p:nvSpPr>
          <p:cNvPr id="9" name="Text 7"/>
          <p:cNvSpPr/>
          <p:nvPr/>
        </p:nvSpPr>
        <p:spPr>
          <a:xfrm>
            <a:off x="457200" y="1463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Got in touch with 'nothing and everything at once' — like a skydive experience. Stands now in freshness, ready to create whatever comes up.</a:t>
            </a:r>
            <a:endParaRPr lang="en-US" sz="950" dirty="0"/>
          </a:p>
        </p:txBody>
      </p:sp>
      <p:sp>
        <p:nvSpPr>
          <p:cNvPr id="10" name="Shape 8"/>
          <p:cNvSpPr/>
          <p:nvPr/>
        </p:nvSpPr>
        <p:spPr>
          <a:xfrm>
            <a:off x="4709160" y="1115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1" name="Shape 9"/>
          <p:cNvSpPr/>
          <p:nvPr/>
        </p:nvSpPr>
        <p:spPr>
          <a:xfrm>
            <a:off x="4709160" y="1115568"/>
            <a:ext cx="73152" cy="1005840"/>
          </a:xfrm>
          <a:prstGeom prst="rect">
            <a:avLst/>
          </a:prstGeom>
          <a:solidFill>
            <a:srgbClr val="D95F5F"/>
          </a:solidFill>
          <a:ln/>
        </p:spPr>
      </p:sp>
      <p:sp>
        <p:nvSpPr>
          <p:cNvPr id="12" name="Text 10"/>
          <p:cNvSpPr/>
          <p:nvPr/>
        </p:nvSpPr>
        <p:spPr>
          <a:xfrm>
            <a:off x="4892040" y="1179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Letting Go</a:t>
            </a:r>
            <a:endParaRPr lang="en-US" sz="1100" dirty="0"/>
          </a:p>
        </p:txBody>
      </p:sp>
      <p:sp>
        <p:nvSpPr>
          <p:cNvPr id="13" name="Text 11"/>
          <p:cNvSpPr/>
          <p:nvPr/>
        </p:nvSpPr>
        <p:spPr>
          <a:xfrm>
            <a:off x="4892040" y="1463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Practiced letting go of being small, unworthy, and overresponsible for everyone. Let come: freedom, and the ability to sense the future emerging.</a:t>
            </a:r>
            <a:endParaRPr lang="en-US" sz="950" dirty="0"/>
          </a:p>
        </p:txBody>
      </p:sp>
      <p:sp>
        <p:nvSpPr>
          <p:cNvPr id="14" name="Shape 12"/>
          <p:cNvSpPr/>
          <p:nvPr/>
        </p:nvSpPr>
        <p:spPr>
          <a:xfrm>
            <a:off x="274320" y="2258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5" name="Shape 13"/>
          <p:cNvSpPr/>
          <p:nvPr/>
        </p:nvSpPr>
        <p:spPr>
          <a:xfrm>
            <a:off x="274320" y="2258568"/>
            <a:ext cx="73152" cy="1005840"/>
          </a:xfrm>
          <a:prstGeom prst="rect">
            <a:avLst/>
          </a:prstGeom>
          <a:solidFill>
            <a:srgbClr val="D95F5F"/>
          </a:solidFill>
          <a:ln/>
        </p:spPr>
      </p:sp>
      <p:sp>
        <p:nvSpPr>
          <p:cNvPr id="16" name="Text 14"/>
          <p:cNvSpPr/>
          <p:nvPr/>
        </p:nvSpPr>
        <p:spPr>
          <a:xfrm>
            <a:off x="457200" y="2322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Vijay — Attachment Released</a:t>
            </a:r>
            <a:endParaRPr lang="en-US" sz="1100" dirty="0"/>
          </a:p>
        </p:txBody>
      </p:sp>
      <p:sp>
        <p:nvSpPr>
          <p:cNvPr id="17" name="Text 15"/>
          <p:cNvSpPr/>
          <p:nvPr/>
        </p:nvSpPr>
        <p:spPr>
          <a:xfrm>
            <a:off x="457200" y="2606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Let go of attachment to results, appreciation, and the belief that children must obey. Opened up: huge freedom for himself and his children to create their own lives.</a:t>
            </a:r>
            <a:endParaRPr lang="en-US" sz="950" dirty="0"/>
          </a:p>
        </p:txBody>
      </p:sp>
      <p:sp>
        <p:nvSpPr>
          <p:cNvPr id="18" name="Shape 16"/>
          <p:cNvSpPr/>
          <p:nvPr/>
        </p:nvSpPr>
        <p:spPr>
          <a:xfrm>
            <a:off x="4709160" y="2258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9" name="Shape 17"/>
          <p:cNvSpPr/>
          <p:nvPr/>
        </p:nvSpPr>
        <p:spPr>
          <a:xfrm>
            <a:off x="4709160" y="2258568"/>
            <a:ext cx="73152" cy="1005840"/>
          </a:xfrm>
          <a:prstGeom prst="rect">
            <a:avLst/>
          </a:prstGeom>
          <a:solidFill>
            <a:srgbClr val="D95F5F"/>
          </a:solidFill>
          <a:ln/>
        </p:spPr>
      </p:sp>
      <p:sp>
        <p:nvSpPr>
          <p:cNvPr id="20" name="Text 18"/>
          <p:cNvSpPr/>
          <p:nvPr/>
        </p:nvSpPr>
        <p:spPr>
          <a:xfrm>
            <a:off x="4892040" y="2322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Savita — Deep Resignation</a:t>
            </a:r>
            <a:endParaRPr lang="en-US" sz="1100" dirty="0"/>
          </a:p>
        </p:txBody>
      </p:sp>
      <p:sp>
        <p:nvSpPr>
          <p:cNvPr id="21" name="Text 19"/>
          <p:cNvSpPr/>
          <p:nvPr/>
        </p:nvSpPr>
        <p:spPr>
          <a:xfrm>
            <a:off x="4892040" y="2606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Biggest release: letting go of deep resignation — 'what's the point?' — and with it, looking forward to life again, free from fear of the past repeating.</a:t>
            </a:r>
            <a:endParaRPr lang="en-US" sz="950" dirty="0"/>
          </a:p>
        </p:txBody>
      </p:sp>
      <p:sp>
        <p:nvSpPr>
          <p:cNvPr id="22" name="Shape 20"/>
          <p:cNvSpPr/>
          <p:nvPr/>
        </p:nvSpPr>
        <p:spPr>
          <a:xfrm>
            <a:off x="274320" y="3401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23" name="Shape 21"/>
          <p:cNvSpPr/>
          <p:nvPr/>
        </p:nvSpPr>
        <p:spPr>
          <a:xfrm>
            <a:off x="274320" y="3401568"/>
            <a:ext cx="73152" cy="1005840"/>
          </a:xfrm>
          <a:prstGeom prst="rect">
            <a:avLst/>
          </a:prstGeom>
          <a:solidFill>
            <a:srgbClr val="D95F5F"/>
          </a:solidFill>
          <a:ln/>
        </p:spPr>
      </p:sp>
      <p:sp>
        <p:nvSpPr>
          <p:cNvPr id="24" name="Text 22"/>
          <p:cNvSpPr/>
          <p:nvPr/>
        </p:nvSpPr>
        <p:spPr>
          <a:xfrm>
            <a:off x="457200" y="3465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Adventure &amp; Maya</a:t>
            </a:r>
            <a:endParaRPr lang="en-US" sz="1100" dirty="0"/>
          </a:p>
        </p:txBody>
      </p:sp>
      <p:sp>
        <p:nvSpPr>
          <p:cNvPr id="25" name="Text 23"/>
          <p:cNvSpPr/>
          <p:nvPr/>
        </p:nvSpPr>
        <p:spPr>
          <a:xfrm>
            <a:off x="457200" y="3749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Discovered attachment to maya (illusion) not the real self. Letting go = courage, compassion, and passion. Wants to live a life of adventure for one's own self.</a:t>
            </a:r>
            <a:endParaRPr lang="en-US" sz="950" dirty="0"/>
          </a:p>
        </p:txBody>
      </p:sp>
      <p:sp>
        <p:nvSpPr>
          <p:cNvPr id="26" name="Shape 24"/>
          <p:cNvSpPr/>
          <p:nvPr/>
        </p:nvSpPr>
        <p:spPr>
          <a:xfrm>
            <a:off x="4709160" y="3401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27" name="Shape 25"/>
          <p:cNvSpPr/>
          <p:nvPr/>
        </p:nvSpPr>
        <p:spPr>
          <a:xfrm>
            <a:off x="4709160" y="3401568"/>
            <a:ext cx="73152" cy="1005840"/>
          </a:xfrm>
          <a:prstGeom prst="rect">
            <a:avLst/>
          </a:prstGeom>
          <a:solidFill>
            <a:srgbClr val="D95F5F"/>
          </a:solidFill>
          <a:ln/>
        </p:spPr>
      </p:sp>
      <p:sp>
        <p:nvSpPr>
          <p:cNvPr id="28" name="Text 26"/>
          <p:cNvSpPr/>
          <p:nvPr/>
        </p:nvSpPr>
        <p:spPr>
          <a:xfrm>
            <a:off x="4892040" y="3465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Access to Higher Self</a:t>
            </a:r>
            <a:endParaRPr lang="en-US" sz="1100" dirty="0"/>
          </a:p>
        </p:txBody>
      </p:sp>
      <p:sp>
        <p:nvSpPr>
          <p:cNvPr id="29" name="Text 27"/>
          <p:cNvSpPr/>
          <p:nvPr/>
        </p:nvSpPr>
        <p:spPr>
          <a:xfrm>
            <a:off x="4892040" y="3749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Identified elements of lower self: attachment to rewards, recognition, force. On releasing: a disappearance of struggle, immense peace, and power to deal with anything.</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D95F5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Basava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Davangere, Karnataka</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Transforming Self – April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D95F5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D95F5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Joined with curiosity about transforming self — realised the ego is what depletes life most.</a:t>
            </a:r>
            <a:endParaRPr lang="en-US" sz="1150" dirty="0"/>
          </a:p>
        </p:txBody>
      </p:sp>
      <p:sp>
        <p:nvSpPr>
          <p:cNvPr id="15" name="Shape 13"/>
          <p:cNvSpPr/>
          <p:nvPr/>
        </p:nvSpPr>
        <p:spPr>
          <a:xfrm>
            <a:off x="2907792" y="1362456"/>
            <a:ext cx="256032" cy="256032"/>
          </a:xfrm>
          <a:prstGeom prst="ellipse">
            <a:avLst/>
          </a:prstGeom>
          <a:solidFill>
            <a:srgbClr val="D95F5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Was able to die to past ego thoughts — a new Basava was born with new thoughts, visions, and insights.</a:t>
            </a:r>
            <a:endParaRPr lang="en-US" sz="1150" dirty="0"/>
          </a:p>
        </p:txBody>
      </p:sp>
      <p:sp>
        <p:nvSpPr>
          <p:cNvPr id="18" name="Shape 16"/>
          <p:cNvSpPr/>
          <p:nvPr/>
        </p:nvSpPr>
        <p:spPr>
          <a:xfrm>
            <a:off x="2907792" y="2139696"/>
            <a:ext cx="256032" cy="256032"/>
          </a:xfrm>
          <a:prstGeom prst="ellipse">
            <a:avLst/>
          </a:prstGeom>
          <a:solidFill>
            <a:srgbClr val="D95F5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Committed to co-creating a new humane society with like-minded people from across the world.</a:t>
            </a:r>
            <a:endParaRPr lang="en-US" sz="1150" dirty="0"/>
          </a:p>
        </p:txBody>
      </p:sp>
      <p:sp>
        <p:nvSpPr>
          <p:cNvPr id="21" name="Shape 19"/>
          <p:cNvSpPr/>
          <p:nvPr/>
        </p:nvSpPr>
        <p:spPr>
          <a:xfrm>
            <a:off x="2788920" y="2926080"/>
            <a:ext cx="6199632" cy="1627632"/>
          </a:xfrm>
          <a:prstGeom prst="rect">
            <a:avLst/>
          </a:prstGeom>
          <a:solidFill>
            <a:srgbClr val="D95F5F">
              <a:alpha val="9000"/>
            </a:srgbClr>
          </a:solidFill>
          <a:ln/>
        </p:spPr>
      </p:sp>
      <p:sp>
        <p:nvSpPr>
          <p:cNvPr id="22" name="Shape 20"/>
          <p:cNvSpPr/>
          <p:nvPr/>
        </p:nvSpPr>
        <p:spPr>
          <a:xfrm>
            <a:off x="2788920" y="2926080"/>
            <a:ext cx="50292" cy="1627632"/>
          </a:xfrm>
          <a:prstGeom prst="rect">
            <a:avLst/>
          </a:prstGeom>
          <a:solidFill>
            <a:srgbClr val="D95F5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"Old Basava died here. New thoughts, new visions, new insights are born. I will co-create with all other like-minded people."</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D95F5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Vijay Kumar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Chennai</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Transforming Self – April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D95F5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D95F5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Shifted from a 24/7 self-focus (what am I doing, what have I accomplished?) to discovering a higher purpose.</a:t>
            </a:r>
            <a:endParaRPr lang="en-US" sz="1150" dirty="0"/>
          </a:p>
        </p:txBody>
      </p:sp>
      <p:sp>
        <p:nvSpPr>
          <p:cNvPr id="15" name="Shape 13"/>
          <p:cNvSpPr/>
          <p:nvPr/>
        </p:nvSpPr>
        <p:spPr>
          <a:xfrm>
            <a:off x="2907792" y="1362456"/>
            <a:ext cx="256032" cy="256032"/>
          </a:xfrm>
          <a:prstGeom prst="ellipse">
            <a:avLst/>
          </a:prstGeom>
          <a:solidFill>
            <a:srgbClr val="D95F5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Purpose identified: creating peace on the planet — for every country, city, village, child, and student.</a:t>
            </a:r>
            <a:endParaRPr lang="en-US" sz="1150" dirty="0"/>
          </a:p>
        </p:txBody>
      </p:sp>
      <p:sp>
        <p:nvSpPr>
          <p:cNvPr id="18" name="Shape 16"/>
          <p:cNvSpPr/>
          <p:nvPr/>
        </p:nvSpPr>
        <p:spPr>
          <a:xfrm>
            <a:off x="2907792" y="2139696"/>
            <a:ext cx="256032" cy="256032"/>
          </a:xfrm>
          <a:prstGeom prst="ellipse">
            <a:avLst/>
          </a:prstGeom>
          <a:solidFill>
            <a:srgbClr val="D95F5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completely new version of self emerged — born from purposeful reflection and letting go of the smaller self.</a:t>
            </a:r>
            <a:endParaRPr lang="en-US" sz="1150" dirty="0"/>
          </a:p>
        </p:txBody>
      </p:sp>
      <p:sp>
        <p:nvSpPr>
          <p:cNvPr id="21" name="Shape 19"/>
          <p:cNvSpPr/>
          <p:nvPr/>
        </p:nvSpPr>
        <p:spPr>
          <a:xfrm>
            <a:off x="2788920" y="2926080"/>
            <a:ext cx="6199632" cy="1627632"/>
          </a:xfrm>
          <a:prstGeom prst="rect">
            <a:avLst/>
          </a:prstGeom>
          <a:solidFill>
            <a:srgbClr val="D95F5F">
              <a:alpha val="9000"/>
            </a:srgbClr>
          </a:solidFill>
          <a:ln/>
        </p:spPr>
      </p:sp>
      <p:sp>
        <p:nvSpPr>
          <p:cNvPr id="22" name="Shape 20"/>
          <p:cNvSpPr/>
          <p:nvPr/>
        </p:nvSpPr>
        <p:spPr>
          <a:xfrm>
            <a:off x="2788920" y="2926080"/>
            <a:ext cx="50292" cy="1627632"/>
          </a:xfrm>
          <a:prstGeom prst="rect">
            <a:avLst/>
          </a:prstGeom>
          <a:solidFill>
            <a:srgbClr val="D95F5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"What I got from this workshop is my higher purpose — to create peace on the planet where every person, every child, every student lives in peace."</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D95F5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Sachin Koti</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Transforming Self – April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D95F5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D95F5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Engaged deeply with the Transforming Self process — experienced meaningful personal breakthroughs.</a:t>
            </a:r>
            <a:endParaRPr lang="en-US" sz="1150" dirty="0"/>
          </a:p>
        </p:txBody>
      </p:sp>
      <p:sp>
        <p:nvSpPr>
          <p:cNvPr id="15" name="Shape 13"/>
          <p:cNvSpPr/>
          <p:nvPr/>
        </p:nvSpPr>
        <p:spPr>
          <a:xfrm>
            <a:off x="2907792" y="1362456"/>
            <a:ext cx="256032" cy="256032"/>
          </a:xfrm>
          <a:prstGeom prst="ellipse">
            <a:avLst/>
          </a:prstGeom>
          <a:solidFill>
            <a:srgbClr val="D95F5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Connected with a clearer sense of purpose and identity through the workshop.</a:t>
            </a:r>
            <a:endParaRPr lang="en-US" sz="1150" dirty="0"/>
          </a:p>
        </p:txBody>
      </p:sp>
      <p:sp>
        <p:nvSpPr>
          <p:cNvPr id="18" name="Shape 16"/>
          <p:cNvSpPr/>
          <p:nvPr/>
        </p:nvSpPr>
        <p:spPr>
          <a:xfrm>
            <a:off x="2907792" y="2139696"/>
            <a:ext cx="256032" cy="256032"/>
          </a:xfrm>
          <a:prstGeom prst="ellipse">
            <a:avLst/>
          </a:prstGeom>
          <a:solidFill>
            <a:srgbClr val="D95F5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Left with tools and renewed intention to apply them in professional and personal life.</a:t>
            </a:r>
            <a:endParaRPr lang="en-US" sz="1150" dirty="0"/>
          </a:p>
        </p:txBody>
      </p:sp>
      <p:sp>
        <p:nvSpPr>
          <p:cNvPr id="21" name="Shape 19"/>
          <p:cNvSpPr/>
          <p:nvPr/>
        </p:nvSpPr>
        <p:spPr>
          <a:xfrm>
            <a:off x="2788920" y="2926080"/>
            <a:ext cx="6199632" cy="1627632"/>
          </a:xfrm>
          <a:prstGeom prst="rect">
            <a:avLst/>
          </a:prstGeom>
          <a:solidFill>
            <a:srgbClr val="D95F5F">
              <a:alpha val="9000"/>
            </a:srgbClr>
          </a:solidFill>
          <a:ln/>
        </p:spPr>
      </p:sp>
      <p:sp>
        <p:nvSpPr>
          <p:cNvPr id="22" name="Shape 20"/>
          <p:cNvSpPr/>
          <p:nvPr/>
        </p:nvSpPr>
        <p:spPr>
          <a:xfrm>
            <a:off x="2788920" y="2926080"/>
            <a:ext cx="50292" cy="1627632"/>
          </a:xfrm>
          <a:prstGeom prst="rect">
            <a:avLst/>
          </a:prstGeom>
          <a:solidFill>
            <a:srgbClr val="D95F5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workshop created a transformation. What I came in with and what I left with were entirely different."</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D95F5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Ravi Agarwal (Jaipur)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Jaipur</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Transforming Self – April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D95F5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D95F5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Let go of patterns preventing growth — clearing the way for a new self to emerge.</a:t>
            </a:r>
            <a:endParaRPr lang="en-US" sz="1150" dirty="0"/>
          </a:p>
        </p:txBody>
      </p:sp>
      <p:sp>
        <p:nvSpPr>
          <p:cNvPr id="15" name="Shape 13"/>
          <p:cNvSpPr/>
          <p:nvPr/>
        </p:nvSpPr>
        <p:spPr>
          <a:xfrm>
            <a:off x="2907792" y="1362456"/>
            <a:ext cx="256032" cy="256032"/>
          </a:xfrm>
          <a:prstGeom prst="ellipse">
            <a:avLst/>
          </a:prstGeom>
          <a:solidFill>
            <a:srgbClr val="D95F5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Deepened listening skills and curiosity — began approaching life with openness rather than fixed conclusions.</a:t>
            </a:r>
            <a:endParaRPr lang="en-US" sz="1150" dirty="0"/>
          </a:p>
        </p:txBody>
      </p:sp>
      <p:sp>
        <p:nvSpPr>
          <p:cNvPr id="18" name="Shape 16"/>
          <p:cNvSpPr/>
          <p:nvPr/>
        </p:nvSpPr>
        <p:spPr>
          <a:xfrm>
            <a:off x="2907792" y="2139696"/>
            <a:ext cx="256032" cy="256032"/>
          </a:xfrm>
          <a:prstGeom prst="ellipse">
            <a:avLst/>
          </a:prstGeom>
          <a:solidFill>
            <a:srgbClr val="D95F5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Created clarity on contribution: how does his work bridge the gap or extend the graph for a better world?</a:t>
            </a:r>
            <a:endParaRPr lang="en-US" sz="1150" dirty="0"/>
          </a:p>
        </p:txBody>
      </p:sp>
      <p:sp>
        <p:nvSpPr>
          <p:cNvPr id="21" name="Shape 19"/>
          <p:cNvSpPr/>
          <p:nvPr/>
        </p:nvSpPr>
        <p:spPr>
          <a:xfrm>
            <a:off x="2788920" y="2926080"/>
            <a:ext cx="6199632" cy="1627632"/>
          </a:xfrm>
          <a:prstGeom prst="rect">
            <a:avLst/>
          </a:prstGeom>
          <a:solidFill>
            <a:srgbClr val="D95F5F">
              <a:alpha val="9000"/>
            </a:srgbClr>
          </a:solidFill>
          <a:ln/>
        </p:spPr>
      </p:sp>
      <p:sp>
        <p:nvSpPr>
          <p:cNvPr id="22" name="Shape 20"/>
          <p:cNvSpPr/>
          <p:nvPr/>
        </p:nvSpPr>
        <p:spPr>
          <a:xfrm>
            <a:off x="2788920" y="2926080"/>
            <a:ext cx="50292" cy="1627632"/>
          </a:xfrm>
          <a:prstGeom prst="rect">
            <a:avLst/>
          </a:prstGeom>
          <a:solidFill>
            <a:srgbClr val="D95F5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"I've learned deep listening skills and curiosity. I've freed myself from fixing myself and fixing others. I've stopped being judgmental and started connecting to my higher self."</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D95F5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Shrikant Onkar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Participant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Transforming Self – April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D95F5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D95F5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Confronted the things he could not let go of — and found the possibility of becoming a source of inspiration.</a:t>
            </a:r>
            <a:endParaRPr lang="en-US" sz="1150" dirty="0"/>
          </a:p>
        </p:txBody>
      </p:sp>
      <p:sp>
        <p:nvSpPr>
          <p:cNvPr id="15" name="Shape 13"/>
          <p:cNvSpPr/>
          <p:nvPr/>
        </p:nvSpPr>
        <p:spPr>
          <a:xfrm>
            <a:off x="2907792" y="1362456"/>
            <a:ext cx="256032" cy="256032"/>
          </a:xfrm>
          <a:prstGeom prst="ellipse">
            <a:avLst/>
          </a:prstGeom>
          <a:solidFill>
            <a:srgbClr val="D95F5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Created a vision of helping people live the most fulfilling life possible.</a:t>
            </a:r>
            <a:endParaRPr lang="en-US" sz="1150" dirty="0"/>
          </a:p>
        </p:txBody>
      </p:sp>
      <p:sp>
        <p:nvSpPr>
          <p:cNvPr id="18" name="Shape 16"/>
          <p:cNvSpPr/>
          <p:nvPr/>
        </p:nvSpPr>
        <p:spPr>
          <a:xfrm>
            <a:off x="2907792" y="2139696"/>
            <a:ext cx="256032" cy="256032"/>
          </a:xfrm>
          <a:prstGeom prst="ellipse">
            <a:avLst/>
          </a:prstGeom>
          <a:solidFill>
            <a:srgbClr val="D95F5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Left with a sense of renewal — stepping into a new chapter of life.</a:t>
            </a:r>
            <a:endParaRPr lang="en-US" sz="1150" dirty="0"/>
          </a:p>
        </p:txBody>
      </p:sp>
      <p:sp>
        <p:nvSpPr>
          <p:cNvPr id="21" name="Shape 19"/>
          <p:cNvSpPr/>
          <p:nvPr/>
        </p:nvSpPr>
        <p:spPr>
          <a:xfrm>
            <a:off x="2788920" y="2926080"/>
            <a:ext cx="6199632" cy="1627632"/>
          </a:xfrm>
          <a:prstGeom prst="rect">
            <a:avLst/>
          </a:prstGeom>
          <a:solidFill>
            <a:srgbClr val="D95F5F">
              <a:alpha val="9000"/>
            </a:srgbClr>
          </a:solidFill>
          <a:ln/>
        </p:spPr>
      </p:sp>
      <p:sp>
        <p:nvSpPr>
          <p:cNvPr id="22" name="Shape 20"/>
          <p:cNvSpPr/>
          <p:nvPr/>
        </p:nvSpPr>
        <p:spPr>
          <a:xfrm>
            <a:off x="2788920" y="2926080"/>
            <a:ext cx="50292" cy="1627632"/>
          </a:xfrm>
          <a:prstGeom prst="rect">
            <a:avLst/>
          </a:prstGeom>
          <a:solidFill>
            <a:srgbClr val="D95F5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couldn't let go of everything — but I found the possibility of being a source of inspiration for people, to help them live the life of their possibility."</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C9A84C">
              <a:alpha val="17000"/>
            </a:srgbClr>
          </a:solidFill>
          <a:ln/>
        </p:spPr>
      </p:sp>
      <p:sp>
        <p:nvSpPr>
          <p:cNvPr id="3" name="Shape 1"/>
          <p:cNvSpPr/>
          <p:nvPr/>
        </p:nvSpPr>
        <p:spPr>
          <a:xfrm>
            <a:off x="0" y="1901952"/>
            <a:ext cx="411480" cy="1325880"/>
          </a:xfrm>
          <a:prstGeom prst="rect">
            <a:avLst/>
          </a:prstGeom>
          <a:solidFill>
            <a:srgbClr val="C9A84C"/>
          </a:solidFill>
          <a:ln/>
        </p:spPr>
      </p:sp>
      <p:sp>
        <p:nvSpPr>
          <p:cNvPr id="4" name="Shape 2"/>
          <p:cNvSpPr/>
          <p:nvPr/>
        </p:nvSpPr>
        <p:spPr>
          <a:xfrm>
            <a:off x="6583680" y="182880"/>
            <a:ext cx="3200400" cy="3200400"/>
          </a:xfrm>
          <a:prstGeom prst="ellipse">
            <a:avLst/>
          </a:prstGeom>
          <a:solidFill>
            <a:srgbClr val="C9A84C">
              <a:alpha val="12000"/>
            </a:srgbClr>
          </a:solidFill>
          <a:ln w="12700">
            <a:solidFill>
              <a:srgbClr val="C9A84C"/>
            </a:solidFill>
            <a:prstDash val="solid"/>
          </a:ln>
        </p:spPr>
      </p:sp>
      <p:sp>
        <p:nvSpPr>
          <p:cNvPr id="5" name="Shape 3"/>
          <p:cNvSpPr/>
          <p:nvPr/>
        </p:nvSpPr>
        <p:spPr>
          <a:xfrm>
            <a:off x="-731520" y="3383280"/>
            <a:ext cx="2560320" cy="2560320"/>
          </a:xfrm>
          <a:prstGeom prst="ellipse">
            <a:avLst/>
          </a:prstGeom>
          <a:solidFill>
            <a:srgbClr val="C9A84C">
              <a:alpha val="13000"/>
            </a:srgbClr>
          </a:solidFill>
          <a:ln w="12700">
            <a:solidFill>
              <a:srgbClr val="C9A84C"/>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Quantum Laws of Leadership</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C9A84C"/>
                </a:solidFill>
                <a:latin typeface="Calibri" pitchFamily="34" charset="0"/>
                <a:ea typeface="Calibri" pitchFamily="34" charset="-122"/>
                <a:cs typeface="Calibri" pitchFamily="34" charset="-120"/>
              </a:rPr>
              <a:t>A two-day program by Dr. Manoj Onkar — participants from across India and the world</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9A84C"/>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Hari Rajan</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Principal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IT Data Center Company</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California, USA</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Quantum Laws of Leadership</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C9A84C"/>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C9A84C"/>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Was feeling stagnant and clueless about next steps — the program gave him the tools for future collaboration.</a:t>
            </a:r>
            <a:endParaRPr lang="en-US" sz="1150" dirty="0"/>
          </a:p>
        </p:txBody>
      </p:sp>
      <p:sp>
        <p:nvSpPr>
          <p:cNvPr id="15" name="Shape 13"/>
          <p:cNvSpPr/>
          <p:nvPr/>
        </p:nvSpPr>
        <p:spPr>
          <a:xfrm>
            <a:off x="2907792" y="1362456"/>
            <a:ext cx="256032" cy="256032"/>
          </a:xfrm>
          <a:prstGeom prst="ellipse">
            <a:avLst/>
          </a:prstGeom>
          <a:solidFill>
            <a:srgbClr val="C9A84C"/>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Learned to see systems beyond personalities — not getting lost in individual dynamics but seeing the larger structure.</a:t>
            </a:r>
            <a:endParaRPr lang="en-US" sz="1150" dirty="0"/>
          </a:p>
        </p:txBody>
      </p:sp>
      <p:sp>
        <p:nvSpPr>
          <p:cNvPr id="18" name="Shape 16"/>
          <p:cNvSpPr/>
          <p:nvPr/>
        </p:nvSpPr>
        <p:spPr>
          <a:xfrm>
            <a:off x="2907792" y="2139696"/>
            <a:ext cx="256032" cy="256032"/>
          </a:xfrm>
          <a:prstGeom prst="ellipse">
            <a:avLst/>
          </a:prstGeom>
          <a:solidFill>
            <a:srgbClr val="C9A84C"/>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Releasing baggage from the past: moving into the emerging future rather than carrying old patterns forward.</a:t>
            </a:r>
            <a:endParaRPr lang="en-US" sz="1150" dirty="0"/>
          </a:p>
        </p:txBody>
      </p:sp>
      <p:sp>
        <p:nvSpPr>
          <p:cNvPr id="21" name="Shape 19"/>
          <p:cNvSpPr/>
          <p:nvPr/>
        </p:nvSpPr>
        <p:spPr>
          <a:xfrm>
            <a:off x="2788920" y="2926080"/>
            <a:ext cx="6199632" cy="1627632"/>
          </a:xfrm>
          <a:prstGeom prst="rect">
            <a:avLst/>
          </a:prstGeom>
          <a:solidFill>
            <a:srgbClr val="C9A84C">
              <a:alpha val="9000"/>
            </a:srgbClr>
          </a:solidFill>
          <a:ln/>
        </p:spPr>
      </p:sp>
      <p:sp>
        <p:nvSpPr>
          <p:cNvPr id="22" name="Shape 20"/>
          <p:cNvSpPr/>
          <p:nvPr/>
        </p:nvSpPr>
        <p:spPr>
          <a:xfrm>
            <a:off x="2788920" y="2926080"/>
            <a:ext cx="50292" cy="1627632"/>
          </a:xfrm>
          <a:prstGeom prst="rect">
            <a:avLst/>
          </a:prstGeom>
          <a:solidFill>
            <a:srgbClr val="C9A84C"/>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see how I am changing from the past — not carrying all those baggages — and moving into the emerging future. I felt kind of like walking as a child in these two days."</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9A84C"/>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Kiran Chavda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Management Consultant</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Management Consulting</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(Across 10 Different IT Teams)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Quantum Laws of Leadership</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C9A84C"/>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C9A84C"/>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tools from this workshop will be game-changing for guiding and leading diverse IT teams.</a:t>
            </a:r>
            <a:endParaRPr lang="en-US" sz="1150" dirty="0"/>
          </a:p>
        </p:txBody>
      </p:sp>
      <p:sp>
        <p:nvSpPr>
          <p:cNvPr id="15" name="Shape 13"/>
          <p:cNvSpPr/>
          <p:nvPr/>
        </p:nvSpPr>
        <p:spPr>
          <a:xfrm>
            <a:off x="2907792" y="1362456"/>
            <a:ext cx="256032" cy="256032"/>
          </a:xfrm>
          <a:prstGeom prst="ellipse">
            <a:avLst/>
          </a:prstGeom>
          <a:solidFill>
            <a:srgbClr val="C9A84C"/>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Two extraordinary days — connected with great people and sees a future of co-creating with this group.</a:t>
            </a:r>
            <a:endParaRPr lang="en-US" sz="1150" dirty="0"/>
          </a:p>
        </p:txBody>
      </p:sp>
      <p:sp>
        <p:nvSpPr>
          <p:cNvPr id="18" name="Shape 16"/>
          <p:cNvSpPr/>
          <p:nvPr/>
        </p:nvSpPr>
        <p:spPr>
          <a:xfrm>
            <a:off x="2907792" y="2139696"/>
            <a:ext cx="256032" cy="256032"/>
          </a:xfrm>
          <a:prstGeom prst="ellipse">
            <a:avLst/>
          </a:prstGeom>
          <a:solidFill>
            <a:srgbClr val="C9A84C"/>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new kind of leadership emerged — one driven by deeper relationships, not just results.</a:t>
            </a:r>
            <a:endParaRPr lang="en-US" sz="1150" dirty="0"/>
          </a:p>
        </p:txBody>
      </p:sp>
      <p:sp>
        <p:nvSpPr>
          <p:cNvPr id="21" name="Shape 19"/>
          <p:cNvSpPr/>
          <p:nvPr/>
        </p:nvSpPr>
        <p:spPr>
          <a:xfrm>
            <a:off x="2788920" y="2926080"/>
            <a:ext cx="6199632" cy="1627632"/>
          </a:xfrm>
          <a:prstGeom prst="rect">
            <a:avLst/>
          </a:prstGeom>
          <a:solidFill>
            <a:srgbClr val="C9A84C">
              <a:alpha val="9000"/>
            </a:srgbClr>
          </a:solidFill>
          <a:ln/>
        </p:spPr>
      </p:sp>
      <p:sp>
        <p:nvSpPr>
          <p:cNvPr id="22" name="Shape 20"/>
          <p:cNvSpPr/>
          <p:nvPr/>
        </p:nvSpPr>
        <p:spPr>
          <a:xfrm>
            <a:off x="2788920" y="2926080"/>
            <a:ext cx="50292" cy="1627632"/>
          </a:xfrm>
          <a:prstGeom prst="rect">
            <a:avLst/>
          </a:prstGeom>
          <a:solidFill>
            <a:srgbClr val="C9A84C"/>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"This has been an extraordinary two days where I connected with great people I'd love to be in contact with for a lifetime. I'm seeing a great future emerging from co-creating with this group."</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9A84C"/>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Niyati Kala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Lawyer &amp; Mediator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NGO Professional</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(Spiritual Service Programs)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Quantum Laws of Leadership</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C9A84C"/>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C9A84C"/>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Theory U complemented and sharpened her existing journey — deconstructing and expanding what she had been exposed to.</a:t>
            </a:r>
            <a:endParaRPr lang="en-US" sz="1150" dirty="0"/>
          </a:p>
        </p:txBody>
      </p:sp>
      <p:sp>
        <p:nvSpPr>
          <p:cNvPr id="15" name="Shape 13"/>
          <p:cNvSpPr/>
          <p:nvPr/>
        </p:nvSpPr>
        <p:spPr>
          <a:xfrm>
            <a:off x="2907792" y="1362456"/>
            <a:ext cx="256032" cy="256032"/>
          </a:xfrm>
          <a:prstGeom prst="ellipse">
            <a:avLst/>
          </a:prstGeom>
          <a:solidFill>
            <a:srgbClr val="C9A84C"/>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Reaching stakeholders more effectively: moving from assumptions to genuine outreach with people taken for granted.</a:t>
            </a:r>
            <a:endParaRPr lang="en-US" sz="1150" dirty="0"/>
          </a:p>
        </p:txBody>
      </p:sp>
      <p:sp>
        <p:nvSpPr>
          <p:cNvPr id="18" name="Shape 16"/>
          <p:cNvSpPr/>
          <p:nvPr/>
        </p:nvSpPr>
        <p:spPr>
          <a:xfrm>
            <a:off x="2907792" y="2139696"/>
            <a:ext cx="256032" cy="256032"/>
          </a:xfrm>
          <a:prstGeom prst="ellipse">
            <a:avLst/>
          </a:prstGeom>
          <a:solidFill>
            <a:srgbClr val="C9A84C"/>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Genuine listening vs. playing back her own 'recording' — walking in others' shoes and looking through their eyes.</a:t>
            </a:r>
            <a:endParaRPr lang="en-US" sz="1150" dirty="0"/>
          </a:p>
        </p:txBody>
      </p:sp>
      <p:sp>
        <p:nvSpPr>
          <p:cNvPr id="21" name="Shape 19"/>
          <p:cNvSpPr/>
          <p:nvPr/>
        </p:nvSpPr>
        <p:spPr>
          <a:xfrm>
            <a:off x="2788920" y="2926080"/>
            <a:ext cx="6199632" cy="1627632"/>
          </a:xfrm>
          <a:prstGeom prst="rect">
            <a:avLst/>
          </a:prstGeom>
          <a:solidFill>
            <a:srgbClr val="C9A84C">
              <a:alpha val="9000"/>
            </a:srgbClr>
          </a:solidFill>
          <a:ln/>
        </p:spPr>
      </p:sp>
      <p:sp>
        <p:nvSpPr>
          <p:cNvPr id="22" name="Shape 20"/>
          <p:cNvSpPr/>
          <p:nvPr/>
        </p:nvSpPr>
        <p:spPr>
          <a:xfrm>
            <a:off x="2788920" y="2926080"/>
            <a:ext cx="50292" cy="1627632"/>
          </a:xfrm>
          <a:prstGeom prst="rect">
            <a:avLst/>
          </a:prstGeom>
          <a:solidFill>
            <a:srgbClr val="C9A84C"/>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ability to reach out to more people in my world — people I tend to take for granted — and genuinely listen to them versus my own recording was enormously helpful."</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9A84C"/>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Amitava Ghosh</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Ex-Chief Executive Officer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Reliance Group Company</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(Also Led AppTech &amp; Asparta)</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Quantum Laws of Leadership</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C9A84C"/>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C9A84C"/>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Every interaction with Dr. Manoj Onkar is a learning experience — this workshop was an eye-opener and a step forward.</a:t>
            </a:r>
            <a:endParaRPr lang="en-US" sz="1150" dirty="0"/>
          </a:p>
        </p:txBody>
      </p:sp>
      <p:sp>
        <p:nvSpPr>
          <p:cNvPr id="15" name="Shape 13"/>
          <p:cNvSpPr/>
          <p:nvPr/>
        </p:nvSpPr>
        <p:spPr>
          <a:xfrm>
            <a:off x="2907792" y="1362456"/>
            <a:ext cx="256032" cy="256032"/>
          </a:xfrm>
          <a:prstGeom prst="ellipse">
            <a:avLst/>
          </a:prstGeom>
          <a:solidFill>
            <a:srgbClr val="C9A84C"/>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Creating a better world: reducing the eco-divide, social divide, and spiritual divide through leadership.</a:t>
            </a:r>
            <a:endParaRPr lang="en-US" sz="1150" dirty="0"/>
          </a:p>
        </p:txBody>
      </p:sp>
      <p:sp>
        <p:nvSpPr>
          <p:cNvPr id="18" name="Shape 16"/>
          <p:cNvSpPr/>
          <p:nvPr/>
        </p:nvSpPr>
        <p:spPr>
          <a:xfrm>
            <a:off x="2907792" y="2139696"/>
            <a:ext cx="256032" cy="256032"/>
          </a:xfrm>
          <a:prstGeom prst="ellipse">
            <a:avLst/>
          </a:prstGeom>
          <a:solidFill>
            <a:srgbClr val="C9A84C"/>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Universal recommendation: for individuals and all organizations across functions, hierarchies, and industries.</a:t>
            </a:r>
            <a:endParaRPr lang="en-US" sz="1150" dirty="0"/>
          </a:p>
        </p:txBody>
      </p:sp>
      <p:sp>
        <p:nvSpPr>
          <p:cNvPr id="21" name="Shape 19"/>
          <p:cNvSpPr/>
          <p:nvPr/>
        </p:nvSpPr>
        <p:spPr>
          <a:xfrm>
            <a:off x="2788920" y="2926080"/>
            <a:ext cx="6199632" cy="1627632"/>
          </a:xfrm>
          <a:prstGeom prst="rect">
            <a:avLst/>
          </a:prstGeom>
          <a:solidFill>
            <a:srgbClr val="C9A84C">
              <a:alpha val="9000"/>
            </a:srgbClr>
          </a:solidFill>
          <a:ln/>
        </p:spPr>
      </p:sp>
      <p:sp>
        <p:nvSpPr>
          <p:cNvPr id="22" name="Shape 20"/>
          <p:cNvSpPr/>
          <p:nvPr/>
        </p:nvSpPr>
        <p:spPr>
          <a:xfrm>
            <a:off x="2788920" y="2926080"/>
            <a:ext cx="50292" cy="1627632"/>
          </a:xfrm>
          <a:prstGeom prst="rect">
            <a:avLst/>
          </a:prstGeom>
          <a:solidFill>
            <a:srgbClr val="C9A84C"/>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"This workshop was an eye-opener and a step towards creating a better world — where we have lesser eco-divide, social divide, and spiritual divide."</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9A84C"/>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Shambhu Jha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 Industry Professional</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LFEF Alumni Community</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Quantum Laws of Leadership</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C9A84C"/>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C9A84C"/>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Two days of powerful learning through the Quantum Laws framework applied to leadership.</a:t>
            </a:r>
            <a:endParaRPr lang="en-US" sz="1150" dirty="0"/>
          </a:p>
        </p:txBody>
      </p:sp>
      <p:sp>
        <p:nvSpPr>
          <p:cNvPr id="15" name="Shape 13"/>
          <p:cNvSpPr/>
          <p:nvPr/>
        </p:nvSpPr>
        <p:spPr>
          <a:xfrm>
            <a:off x="2907792" y="1362456"/>
            <a:ext cx="256032" cy="256032"/>
          </a:xfrm>
          <a:prstGeom prst="ellipse">
            <a:avLst/>
          </a:prstGeom>
          <a:solidFill>
            <a:srgbClr val="C9A84C"/>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Engaged with Theory U tools and explored how they apply in an IT professional context.</a:t>
            </a:r>
            <a:endParaRPr lang="en-US" sz="1150" dirty="0"/>
          </a:p>
        </p:txBody>
      </p:sp>
      <p:sp>
        <p:nvSpPr>
          <p:cNvPr id="18" name="Shape 16"/>
          <p:cNvSpPr/>
          <p:nvPr/>
        </p:nvSpPr>
        <p:spPr>
          <a:xfrm>
            <a:off x="2907792" y="2139696"/>
            <a:ext cx="256032" cy="256032"/>
          </a:xfrm>
          <a:prstGeom prst="ellipse">
            <a:avLst/>
          </a:prstGeom>
          <a:solidFill>
            <a:srgbClr val="C9A84C"/>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Left with a renewed sense of direction and practical tools for collaboration.</a:t>
            </a:r>
            <a:endParaRPr lang="en-US" sz="1150" dirty="0"/>
          </a:p>
        </p:txBody>
      </p:sp>
      <p:sp>
        <p:nvSpPr>
          <p:cNvPr id="21" name="Shape 19"/>
          <p:cNvSpPr/>
          <p:nvPr/>
        </p:nvSpPr>
        <p:spPr>
          <a:xfrm>
            <a:off x="2788920" y="2926080"/>
            <a:ext cx="6199632" cy="1627632"/>
          </a:xfrm>
          <a:prstGeom prst="rect">
            <a:avLst/>
          </a:prstGeom>
          <a:solidFill>
            <a:srgbClr val="C9A84C">
              <a:alpha val="9000"/>
            </a:srgbClr>
          </a:solidFill>
          <a:ln/>
        </p:spPr>
      </p:sp>
      <p:sp>
        <p:nvSpPr>
          <p:cNvPr id="22" name="Shape 20"/>
          <p:cNvSpPr/>
          <p:nvPr/>
        </p:nvSpPr>
        <p:spPr>
          <a:xfrm>
            <a:off x="2788920" y="2926080"/>
            <a:ext cx="50292" cy="1627632"/>
          </a:xfrm>
          <a:prstGeom prst="rect">
            <a:avLst/>
          </a:prstGeom>
          <a:solidFill>
            <a:srgbClr val="C9A84C"/>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Quantum Laws of Leadership Workshop gave me tools and a perspective shift that I will carry with me for a long time."</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9A84C"/>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Dr. Mohak Patel</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Physician &amp; Entrepreneur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Water Purification Business</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Ahmedabad</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Quantum Laws of Leadership</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C9A84C"/>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C9A84C"/>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Deep listening: developing genuine interest and patience for every person, every interaction.</a:t>
            </a:r>
            <a:endParaRPr lang="en-US" sz="1150" dirty="0"/>
          </a:p>
        </p:txBody>
      </p:sp>
      <p:sp>
        <p:nvSpPr>
          <p:cNvPr id="15" name="Shape 13"/>
          <p:cNvSpPr/>
          <p:nvPr/>
        </p:nvSpPr>
        <p:spPr>
          <a:xfrm>
            <a:off x="2907792" y="1362456"/>
            <a:ext cx="256032" cy="256032"/>
          </a:xfrm>
          <a:prstGeom prst="ellipse">
            <a:avLst/>
          </a:prstGeom>
          <a:solidFill>
            <a:srgbClr val="C9A84C"/>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Inspired by the possibility of people bringing their souls — not just their bodies — to the office.</a:t>
            </a:r>
            <a:endParaRPr lang="en-US" sz="1150" dirty="0"/>
          </a:p>
        </p:txBody>
      </p:sp>
      <p:sp>
        <p:nvSpPr>
          <p:cNvPr id="18" name="Shape 16"/>
          <p:cNvSpPr/>
          <p:nvPr/>
        </p:nvSpPr>
        <p:spPr>
          <a:xfrm>
            <a:off x="2907792" y="2139696"/>
            <a:ext cx="256032" cy="256032"/>
          </a:xfrm>
          <a:prstGeom prst="ellipse">
            <a:avLst/>
          </a:prstGeom>
          <a:solidFill>
            <a:srgbClr val="C9A84C"/>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Quantum impact: inner leadership shifts create exponential results in business performance.</a:t>
            </a:r>
            <a:endParaRPr lang="en-US" sz="1150" dirty="0"/>
          </a:p>
        </p:txBody>
      </p:sp>
      <p:sp>
        <p:nvSpPr>
          <p:cNvPr id="21" name="Shape 19"/>
          <p:cNvSpPr/>
          <p:nvPr/>
        </p:nvSpPr>
        <p:spPr>
          <a:xfrm>
            <a:off x="2788920" y="2926080"/>
            <a:ext cx="6199632" cy="1627632"/>
          </a:xfrm>
          <a:prstGeom prst="rect">
            <a:avLst/>
          </a:prstGeom>
          <a:solidFill>
            <a:srgbClr val="C9A84C">
              <a:alpha val="9000"/>
            </a:srgbClr>
          </a:solidFill>
          <a:ln/>
        </p:spPr>
      </p:sp>
      <p:sp>
        <p:nvSpPr>
          <p:cNvPr id="22" name="Shape 20"/>
          <p:cNvSpPr/>
          <p:nvPr/>
        </p:nvSpPr>
        <p:spPr>
          <a:xfrm>
            <a:off x="2788920" y="2926080"/>
            <a:ext cx="50292" cy="1627632"/>
          </a:xfrm>
          <a:prstGeom prst="rect">
            <a:avLst/>
          </a:prstGeom>
          <a:solidFill>
            <a:srgbClr val="C9A84C"/>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"I'm really inspired by the possibility I see now — of people bringing their souls to the office, not just their bodies. I can see that I'm making a quantum impact on the performance of my business."</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C9A84C"/>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Dr. Kanika Gupta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Ophthalmologist, Healer &amp; Surgeon</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Cataract &amp; Anterior Segment Surgeon</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(Developing as a Healer)</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Quantum Laws of Leadership</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C9A84C"/>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C9A84C"/>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 powerful perspective shift — broke through a deep block in communication she had been unable to identify.</a:t>
            </a:r>
            <a:endParaRPr lang="en-US" sz="1150" dirty="0"/>
          </a:p>
        </p:txBody>
      </p:sp>
      <p:sp>
        <p:nvSpPr>
          <p:cNvPr id="15" name="Shape 13"/>
          <p:cNvSpPr/>
          <p:nvPr/>
        </p:nvSpPr>
        <p:spPr>
          <a:xfrm>
            <a:off x="2907792" y="1362456"/>
            <a:ext cx="256032" cy="256032"/>
          </a:xfrm>
          <a:prstGeom prst="ellipse">
            <a:avLst/>
          </a:prstGeom>
          <a:solidFill>
            <a:srgbClr val="C9A84C"/>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Listening and empathy: realised she had never created from the emerging future — and that this was a huge block.</a:t>
            </a:r>
            <a:endParaRPr lang="en-US" sz="1150" dirty="0"/>
          </a:p>
        </p:txBody>
      </p:sp>
      <p:sp>
        <p:nvSpPr>
          <p:cNvPr id="18" name="Shape 16"/>
          <p:cNvSpPr/>
          <p:nvPr/>
        </p:nvSpPr>
        <p:spPr>
          <a:xfrm>
            <a:off x="2907792" y="2139696"/>
            <a:ext cx="256032" cy="256032"/>
          </a:xfrm>
          <a:prstGeom prst="ellipse">
            <a:avLst/>
          </a:prstGeom>
          <a:solidFill>
            <a:srgbClr val="C9A84C"/>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two days were phenomenal in total — this one insight alone was worth everything.</a:t>
            </a:r>
            <a:endParaRPr lang="en-US" sz="1150" dirty="0"/>
          </a:p>
        </p:txBody>
      </p:sp>
      <p:sp>
        <p:nvSpPr>
          <p:cNvPr id="21" name="Shape 19"/>
          <p:cNvSpPr/>
          <p:nvPr/>
        </p:nvSpPr>
        <p:spPr>
          <a:xfrm>
            <a:off x="2788920" y="2926080"/>
            <a:ext cx="6199632" cy="1627632"/>
          </a:xfrm>
          <a:prstGeom prst="rect">
            <a:avLst/>
          </a:prstGeom>
          <a:solidFill>
            <a:srgbClr val="C9A84C">
              <a:alpha val="9000"/>
            </a:srgbClr>
          </a:solidFill>
          <a:ln/>
        </p:spPr>
      </p:sp>
      <p:sp>
        <p:nvSpPr>
          <p:cNvPr id="22" name="Shape 20"/>
          <p:cNvSpPr/>
          <p:nvPr/>
        </p:nvSpPr>
        <p:spPr>
          <a:xfrm>
            <a:off x="2788920" y="2926080"/>
            <a:ext cx="50292" cy="1627632"/>
          </a:xfrm>
          <a:prstGeom prst="rect">
            <a:avLst/>
          </a:prstGeom>
          <a:solidFill>
            <a:srgbClr val="C9A84C"/>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never created from the emerging future — I never saw it that way — and that was such a huge block in my communication. This was fantastic, and it was just one of the aspects."</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B85C38">
              <a:alpha val="17000"/>
            </a:srgbClr>
          </a:solidFill>
          <a:ln/>
        </p:spPr>
      </p:sp>
      <p:sp>
        <p:nvSpPr>
          <p:cNvPr id="3" name="Shape 1"/>
          <p:cNvSpPr/>
          <p:nvPr/>
        </p:nvSpPr>
        <p:spPr>
          <a:xfrm>
            <a:off x="0" y="1901952"/>
            <a:ext cx="411480" cy="1325880"/>
          </a:xfrm>
          <a:prstGeom prst="rect">
            <a:avLst/>
          </a:prstGeom>
          <a:solidFill>
            <a:srgbClr val="B85C38"/>
          </a:solidFill>
          <a:ln/>
        </p:spPr>
      </p:sp>
      <p:sp>
        <p:nvSpPr>
          <p:cNvPr id="4" name="Shape 2"/>
          <p:cNvSpPr/>
          <p:nvPr/>
        </p:nvSpPr>
        <p:spPr>
          <a:xfrm>
            <a:off x="6583680" y="182880"/>
            <a:ext cx="3200400" cy="3200400"/>
          </a:xfrm>
          <a:prstGeom prst="ellipse">
            <a:avLst/>
          </a:prstGeom>
          <a:solidFill>
            <a:srgbClr val="B85C38">
              <a:alpha val="12000"/>
            </a:srgbClr>
          </a:solidFill>
          <a:ln w="12700">
            <a:solidFill>
              <a:srgbClr val="B85C38"/>
            </a:solidFill>
            <a:prstDash val="solid"/>
          </a:ln>
        </p:spPr>
      </p:sp>
      <p:sp>
        <p:nvSpPr>
          <p:cNvPr id="5" name="Shape 3"/>
          <p:cNvSpPr/>
          <p:nvPr/>
        </p:nvSpPr>
        <p:spPr>
          <a:xfrm>
            <a:off x="-731520" y="3383280"/>
            <a:ext cx="2560320" cy="2560320"/>
          </a:xfrm>
          <a:prstGeom prst="ellipse">
            <a:avLst/>
          </a:prstGeom>
          <a:solidFill>
            <a:srgbClr val="B85C38">
              <a:alpha val="13000"/>
            </a:srgbClr>
          </a:solidFill>
          <a:ln w="12700">
            <a:solidFill>
              <a:srgbClr val="B85C38"/>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Kalorex Leadership Forum – May 2023</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B85C38"/>
                </a:solidFill>
                <a:latin typeface="Calibri" pitchFamily="34" charset="0"/>
                <a:ea typeface="Calibri" pitchFamily="34" charset="-122"/>
                <a:cs typeface="Calibri" pitchFamily="34" charset="-120"/>
              </a:rPr>
              <a:t>Education and leadership professionals sharing from the 3-day Kalorex Forum</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School Leader / Educator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When you get out of the way, things go faster — stop correcting people, allow systems to work.</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Change begins in you: it's not about changing the culture out there first; transform yourself first.</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Build acceptance for everybody and all diversity — that is the foundation of everything great.</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"When you get out of the way, things go faster. You are part of the system. The change has to begin in you — not in others."</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School Leader / Educator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Listen and shut up — the first and most important personal takeaway.</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Leadership is not about managing things; it is about helping others alter their perceptions.</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Transforming culture is about transforming consciousness and the ways of dialogue — not what the system enforces.</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"Leadership is not about managing things — it's about helping alter perceptions. Culture transformation is about transforming consciousness and the ways we have dialogue."</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School Leader / Educator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We make the system and the system makes us — to change the system, we must change ourselves first.</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Create leadership where everyone listens: listening to self is as important as listening to others.</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Internal state plays a critical role in the success of any individual or organisation.</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"We make the system and the system makes us. To change the system, we should change ourselves. Listening inward is equally as important as listening to others."</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School Leader / Educator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Listening is the most powerful tool — for understanding people and for building rapport.</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walk and stakeholder interviews give access to others' perspectives in a structured and meaningful way.</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Case clinic is practice, practice, practice — and this forum was also an opportunity to reimagine education.</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"Listening is a powerful tool for understanding people. Empathy walk and stakeholder interviews help us understand others' perspectives. And case clinic is practice, practice, practice."</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Head of Activities</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Department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Success of your intention depends on your interior state of mind — the internal determines the external.</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There are different perceptions for every situation — breaking divides requires listening.</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Most important shift: from 'head of activities' to 'heart of activities' — from mind-driven to heart-led leadership.</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"Success of your intention depends on your interior state of mind. I wish to change myself as a heart of activities — not head of activities."</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DPS Teacher</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Educator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1: Learning how to listen with art and heart — an eye-opener from the very first session.</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2: Empathy walk and stakeholder interview with the 3D model of organisation — practical and powerful.</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3: Organisation culture and case clinic — bringing it all together with real practice.</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"First day we learned about empathy walk — very eye-opening. Second day, stakeholder interview and 3D model of organisation. Third day, organisation culture and case clinic — very good."</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Gujarat J.M.</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Senior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importance of empathy over behaviour: understanding a person deeply rather than reacting to their behaviour.</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We are part of a system — not separate from it. System evaluation is a continuous process.</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Stop acting as a victim or junior — develop the feeling and behaviour of a true partner.</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"We are part of a system, not out of it. System evaluation is a continuous process. We should not act as a victim — we should have the feeling of a partner and behave like one."</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School Leader / Educator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First time truly understood the meaning of listening — and how it helps solve major problems.</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interview: learned how to conduct one properly — how it helps understand people very well.</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Understanding stakeholders through listening enables selecting the right people and completing tasks effectively.</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"First time I have understood the meaning of listening. If we listen to stakeholders well, we can solve many problems and understand them very well."</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Leader &amp; Decision Maker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Realised mistakes: never let staff, children, or stakeholders speak — always placed self above.</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Recognised that everyone around — staff, children, parents — is afraid of him. This is where he needs to change.</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Left with the commitment to change: become a listener instead of always dominating the conversation.</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 realised where I am wrong. I have never let them speak. I have always put myself above them. My staff, my children — they are all afraid of me. This is my learning and where I change myself."</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School Leader / Educator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Not about changing the system from outside — empathy walk and stakeholder interviews drive change.</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People don't always seek solutions — sometimes they just want to be listened to.</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3D model of organisation provides a practical, solution-based framework for transformation.</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"Sometimes people are not seeking solutions — they just want to be listened to. All is well from the heart when you keep understanding people from the heart."</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Senior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Listen, listen, listen: the most important life lesson — especially when leading or working above others.</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interview, empathy walk, and levels of listening were all new, enlightening learnings.</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2: Conversations with three students opened eyes — child-centric education requires meeting children continuously.</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most important life lesson: listen, listen, listen. Leaders don't complain — that's the buzzword I'm taking away. And child-centric education means you must continuously meet children."</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Educator — School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1: Empathy is the core value of every school — a foundation, not a nice-to-have.</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2: Schools must move from their current state to being student-centric, despite resistance.</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3: Listening is a powerful tool but must be done with the heart — it is the only key that can save us.</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"Empathy is the core value for the school. We need to bring our school to student-centric. And listening with your heart — that is the only key that can save us."</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Educator — School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Think of the whole organisation as one system — not as individuals with biases and separate roles.</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walk with diverse groups — not just within your work profile but across departments and stakeholders.</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Open heart in every conversation: listen to any person without pre-judgement or prejudice.</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"If you want to bring change in the system, you have to think of the whole organisation as one system. Empathy walk with diverse groups and open heart listening are the tools."</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Leader — Education Sector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1: Empathy walk — we are all human beings sharing the same planet; be considerate and helpful to each other.</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2: Interacting with children for the first time as a group — a massive eye-opener revealing gaps in the current system.</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Day 3: Leaders have the largest share of control over culture — no right to complain; school shapes society.</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"Day two was special — we interacted with children. It was a big eye-opener. We identified the gaps. A leader has the largest share of control to monitor and shape culture — no right to complain."</a:t>
            </a:r>
            <a:endParaRPr lang="en-US" sz="1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Educator / School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Most important leadership lesson: listen first rather than speak — listening in leadership over-rules speaking.</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Every situation has multiple perspectives; each one gives a fresh learning of the same situation.</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makes room for expression — giving invaluable contribution to organisational goals.</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 most important thing in the leadership role is listening rather than speaking. Multiple perspectives give you a fresh learning of the same situation. Empathy makes room for expression."</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B85C38"/>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Kalorex Participant</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Educator / School Leader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Kalorex Group</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(Leadership Forum, May 2023)</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Kalorex Leadership Forum – May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B85C38"/>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B85C38"/>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Listening is the most beautiful lesson — and alongside it: how to see the world from different perspectives.</a:t>
            </a:r>
            <a:endParaRPr lang="en-US" sz="1150" dirty="0"/>
          </a:p>
        </p:txBody>
      </p:sp>
      <p:sp>
        <p:nvSpPr>
          <p:cNvPr id="15" name="Shape 13"/>
          <p:cNvSpPr/>
          <p:nvPr/>
        </p:nvSpPr>
        <p:spPr>
          <a:xfrm>
            <a:off x="2907792" y="1362456"/>
            <a:ext cx="256032" cy="256032"/>
          </a:xfrm>
          <a:prstGeom prst="ellipse">
            <a:avLst/>
          </a:prstGeom>
          <a:solidFill>
            <a:srgbClr val="B85C38"/>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Overcoming problems by viewing them from different angles — using case studies and other tools.</a:t>
            </a:r>
            <a:endParaRPr lang="en-US" sz="1150" dirty="0"/>
          </a:p>
        </p:txBody>
      </p:sp>
      <p:sp>
        <p:nvSpPr>
          <p:cNvPr id="18" name="Shape 16"/>
          <p:cNvSpPr/>
          <p:nvPr/>
        </p:nvSpPr>
        <p:spPr>
          <a:xfrm>
            <a:off x="2907792" y="2139696"/>
            <a:ext cx="256032" cy="256032"/>
          </a:xfrm>
          <a:prstGeom prst="ellipse">
            <a:avLst/>
          </a:prstGeom>
          <a:solidFill>
            <a:srgbClr val="B85C38"/>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All these things together can lead to change in the system — it may take time, but it will definitely make a difference.</a:t>
            </a:r>
            <a:endParaRPr lang="en-US" sz="1150" dirty="0"/>
          </a:p>
        </p:txBody>
      </p:sp>
      <p:sp>
        <p:nvSpPr>
          <p:cNvPr id="21" name="Shape 19"/>
          <p:cNvSpPr/>
          <p:nvPr/>
        </p:nvSpPr>
        <p:spPr>
          <a:xfrm>
            <a:off x="2788920" y="2926080"/>
            <a:ext cx="6199632" cy="1627632"/>
          </a:xfrm>
          <a:prstGeom prst="rect">
            <a:avLst/>
          </a:prstGeom>
          <a:solidFill>
            <a:srgbClr val="B85C38">
              <a:alpha val="9000"/>
            </a:srgbClr>
          </a:solidFill>
          <a:ln/>
        </p:spPr>
      </p:sp>
      <p:sp>
        <p:nvSpPr>
          <p:cNvPr id="22" name="Shape 20"/>
          <p:cNvSpPr/>
          <p:nvPr/>
        </p:nvSpPr>
        <p:spPr>
          <a:xfrm>
            <a:off x="2788920" y="2926080"/>
            <a:ext cx="50292" cy="1627632"/>
          </a:xfrm>
          <a:prstGeom prst="rect">
            <a:avLst/>
          </a:prstGeom>
          <a:solidFill>
            <a:srgbClr val="B85C38"/>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"One of the most beautiful lessons is listening. And how to see the world from different perspectives — how to overcome a problem by viewing it from different angles."</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1901952"/>
            <a:ext cx="9144000" cy="1325880"/>
          </a:xfrm>
          <a:prstGeom prst="rect">
            <a:avLst/>
          </a:prstGeom>
          <a:solidFill>
            <a:srgbClr val="2E6B4F">
              <a:alpha val="17000"/>
            </a:srgbClr>
          </a:solidFill>
          <a:ln/>
        </p:spPr>
      </p:sp>
      <p:sp>
        <p:nvSpPr>
          <p:cNvPr id="3" name="Shape 1"/>
          <p:cNvSpPr/>
          <p:nvPr/>
        </p:nvSpPr>
        <p:spPr>
          <a:xfrm>
            <a:off x="0" y="1901952"/>
            <a:ext cx="411480" cy="1325880"/>
          </a:xfrm>
          <a:prstGeom prst="rect">
            <a:avLst/>
          </a:prstGeom>
          <a:solidFill>
            <a:srgbClr val="2E6B4F"/>
          </a:solidFill>
          <a:ln/>
        </p:spPr>
      </p:sp>
      <p:sp>
        <p:nvSpPr>
          <p:cNvPr id="4" name="Shape 2"/>
          <p:cNvSpPr/>
          <p:nvPr/>
        </p:nvSpPr>
        <p:spPr>
          <a:xfrm>
            <a:off x="6583680" y="182880"/>
            <a:ext cx="3200400" cy="3200400"/>
          </a:xfrm>
          <a:prstGeom prst="ellipse">
            <a:avLst/>
          </a:prstGeom>
          <a:solidFill>
            <a:srgbClr val="2E6B4F">
              <a:alpha val="12000"/>
            </a:srgbClr>
          </a:solidFill>
          <a:ln w="12700">
            <a:solidFill>
              <a:srgbClr val="2E6B4F"/>
            </a:solidFill>
            <a:prstDash val="solid"/>
          </a:ln>
        </p:spPr>
      </p:sp>
      <p:sp>
        <p:nvSpPr>
          <p:cNvPr id="5" name="Shape 3"/>
          <p:cNvSpPr/>
          <p:nvPr/>
        </p:nvSpPr>
        <p:spPr>
          <a:xfrm>
            <a:off x="-731520" y="3383280"/>
            <a:ext cx="2560320" cy="2560320"/>
          </a:xfrm>
          <a:prstGeom prst="ellipse">
            <a:avLst/>
          </a:prstGeom>
          <a:solidFill>
            <a:srgbClr val="2E6B4F">
              <a:alpha val="13000"/>
            </a:srgbClr>
          </a:solidFill>
          <a:ln w="12700">
            <a:solidFill>
              <a:srgbClr val="2E6B4F"/>
            </a:solidFill>
            <a:prstDash val="solid"/>
          </a:ln>
        </p:spPr>
      </p:sp>
      <p:sp>
        <p:nvSpPr>
          <p:cNvPr id="6" name="Text 4"/>
          <p:cNvSpPr/>
          <p:nvPr/>
        </p:nvSpPr>
        <p:spPr>
          <a:xfrm>
            <a:off x="640080" y="1920240"/>
            <a:ext cx="7772400" cy="713232"/>
          </a:xfrm>
          <a:prstGeom prst="rect">
            <a:avLst/>
          </a:prstGeom>
          <a:noFill/>
          <a:ln/>
        </p:spPr>
        <p:txBody>
          <a:bodyPr wrap="square" rtlCol="0" anchor="b"/>
          <a:lstStyle/>
          <a:p>
            <a:pPr indent="0" marL="0">
              <a:buNone/>
            </a:pPr>
            <a:r>
              <a:rPr lang="en-US" sz="2900" b="1" dirty="0">
                <a:solidFill>
                  <a:srgbClr val="FFFFFF"/>
                </a:solidFill>
                <a:latin typeface="Georgia" pitchFamily="34" charset="0"/>
                <a:ea typeface="Georgia" pitchFamily="34" charset="-122"/>
                <a:cs typeface="Georgia" pitchFamily="34" charset="-120"/>
              </a:rPr>
              <a:t>CXO – Leading from the Future (Sept 2023)</a:t>
            </a:r>
            <a:endParaRPr lang="en-US" sz="2900" dirty="0"/>
          </a:p>
        </p:txBody>
      </p:sp>
      <p:sp>
        <p:nvSpPr>
          <p:cNvPr id="7" name="Text 5"/>
          <p:cNvSpPr/>
          <p:nvPr/>
        </p:nvSpPr>
        <p:spPr>
          <a:xfrm>
            <a:off x="640080" y="2679192"/>
            <a:ext cx="7772400" cy="411480"/>
          </a:xfrm>
          <a:prstGeom prst="rect">
            <a:avLst/>
          </a:prstGeom>
          <a:noFill/>
          <a:ln/>
        </p:spPr>
        <p:txBody>
          <a:bodyPr wrap="square" rtlCol="0" anchor="ctr"/>
          <a:lstStyle/>
          <a:p>
            <a:pPr indent="0" marL="0">
              <a:buNone/>
            </a:pPr>
            <a:r>
              <a:rPr lang="en-US" sz="1150" i="1" dirty="0">
                <a:solidFill>
                  <a:srgbClr val="2E6B4F"/>
                </a:solidFill>
                <a:latin typeface="Calibri" pitchFamily="34" charset="0"/>
                <a:ea typeface="Calibri" pitchFamily="34" charset="-122"/>
                <a:cs typeface="Calibri" pitchFamily="34" charset="-120"/>
              </a:rPr>
              <a:t>September 2023 cohort — participant sharings</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2E6B4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Rajeev Bhadauria</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Advisor — Corporate Affairs &amp; PR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Reliance ADAG</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(35 Years: NTPC, Reliance, Jindal Steel &amp; Power)</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(Sept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2E6B4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2E6B4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Theory U is a process-based, humane way to understand why people do — or don't do — certain things.</a:t>
            </a:r>
            <a:endParaRPr lang="en-US" sz="1150" dirty="0"/>
          </a:p>
        </p:txBody>
      </p:sp>
      <p:sp>
        <p:nvSpPr>
          <p:cNvPr id="15" name="Shape 13"/>
          <p:cNvSpPr/>
          <p:nvPr/>
        </p:nvSpPr>
        <p:spPr>
          <a:xfrm>
            <a:off x="2907792" y="1362456"/>
            <a:ext cx="256032" cy="256032"/>
          </a:xfrm>
          <a:prstGeom prst="ellipse">
            <a:avLst/>
          </a:prstGeom>
          <a:solidFill>
            <a:srgbClr val="2E6B4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three divides (ecological, social, spiritual) are real and dangerous; growth without purpose is exploitative.</a:t>
            </a:r>
            <a:endParaRPr lang="en-US" sz="1150" dirty="0"/>
          </a:p>
        </p:txBody>
      </p:sp>
      <p:sp>
        <p:nvSpPr>
          <p:cNvPr id="18" name="Shape 16"/>
          <p:cNvSpPr/>
          <p:nvPr/>
        </p:nvSpPr>
        <p:spPr>
          <a:xfrm>
            <a:off x="2907792" y="2139696"/>
            <a:ext cx="256032" cy="256032"/>
          </a:xfrm>
          <a:prstGeom prst="ellipse">
            <a:avLst/>
          </a:prstGeom>
          <a:solidFill>
            <a:srgbClr val="2E6B4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The unlearning-relearning cycle: let go of what you're holding, iterate, and through that process, land into the future.</a:t>
            </a:r>
            <a:endParaRPr lang="en-US" sz="1150" dirty="0"/>
          </a:p>
        </p:txBody>
      </p:sp>
      <p:sp>
        <p:nvSpPr>
          <p:cNvPr id="21" name="Shape 19"/>
          <p:cNvSpPr/>
          <p:nvPr/>
        </p:nvSpPr>
        <p:spPr>
          <a:xfrm>
            <a:off x="2788920" y="2926080"/>
            <a:ext cx="6199632" cy="1627632"/>
          </a:xfrm>
          <a:prstGeom prst="rect">
            <a:avLst/>
          </a:prstGeom>
          <a:solidFill>
            <a:srgbClr val="2E6B4F">
              <a:alpha val="9000"/>
            </a:srgbClr>
          </a:solidFill>
          <a:ln/>
        </p:spPr>
      </p:sp>
      <p:sp>
        <p:nvSpPr>
          <p:cNvPr id="22" name="Shape 20"/>
          <p:cNvSpPr/>
          <p:nvPr/>
        </p:nvSpPr>
        <p:spPr>
          <a:xfrm>
            <a:off x="2788920" y="2926080"/>
            <a:ext cx="50292" cy="1627632"/>
          </a:xfrm>
          <a:prstGeom prst="rect">
            <a:avLst/>
          </a:prstGeom>
          <a:solidFill>
            <a:srgbClr val="2E6B4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"Theory U doesn't just teach you how to do things — it also teaches you how to do the right things. In 35 years across organisations, I found it has something very special for all of us."</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2E6B4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Vipul</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Chief Operating Officer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Upsquare Technologies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(Sept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2E6B4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2E6B4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Three phrases that hit hard: 'brain is my enemy', 'speed is nonsense', 'leadership is not about you.'</a:t>
            </a:r>
            <a:endParaRPr lang="en-US" sz="1150" dirty="0"/>
          </a:p>
        </p:txBody>
      </p:sp>
      <p:sp>
        <p:nvSpPr>
          <p:cNvPr id="15" name="Shape 13"/>
          <p:cNvSpPr/>
          <p:nvPr/>
        </p:nvSpPr>
        <p:spPr>
          <a:xfrm>
            <a:off x="2907792" y="1362456"/>
            <a:ext cx="256032" cy="256032"/>
          </a:xfrm>
          <a:prstGeom prst="ellipse">
            <a:avLst/>
          </a:prstGeom>
          <a:solidFill>
            <a:srgbClr val="2E6B4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walk and stakeholder interview: powerful, simple techniques to practice continuously — not a one-time act.</a:t>
            </a:r>
            <a:endParaRPr lang="en-US" sz="1150" dirty="0"/>
          </a:p>
        </p:txBody>
      </p:sp>
      <p:sp>
        <p:nvSpPr>
          <p:cNvPr id="18" name="Shape 16"/>
          <p:cNvSpPr/>
          <p:nvPr/>
        </p:nvSpPr>
        <p:spPr>
          <a:xfrm>
            <a:off x="2907792" y="2139696"/>
            <a:ext cx="256032" cy="256032"/>
          </a:xfrm>
          <a:prstGeom prst="ellipse">
            <a:avLst/>
          </a:prstGeom>
          <a:solidFill>
            <a:srgbClr val="2E6B4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Committed to three actions: practice dialogue, connect as a human with as many people as possible, and become 'Chief Education Officer' in his own organisation.</a:t>
            </a:r>
            <a:endParaRPr lang="en-US" sz="1150" dirty="0"/>
          </a:p>
        </p:txBody>
      </p:sp>
      <p:sp>
        <p:nvSpPr>
          <p:cNvPr id="21" name="Shape 19"/>
          <p:cNvSpPr/>
          <p:nvPr/>
        </p:nvSpPr>
        <p:spPr>
          <a:xfrm>
            <a:off x="2788920" y="2926080"/>
            <a:ext cx="6199632" cy="1627632"/>
          </a:xfrm>
          <a:prstGeom prst="rect">
            <a:avLst/>
          </a:prstGeom>
          <a:solidFill>
            <a:srgbClr val="2E6B4F">
              <a:alpha val="9000"/>
            </a:srgbClr>
          </a:solidFill>
          <a:ln/>
        </p:spPr>
      </p:sp>
      <p:sp>
        <p:nvSpPr>
          <p:cNvPr id="22" name="Shape 20"/>
          <p:cNvSpPr/>
          <p:nvPr/>
        </p:nvSpPr>
        <p:spPr>
          <a:xfrm>
            <a:off x="2788920" y="2926080"/>
            <a:ext cx="50292" cy="1627632"/>
          </a:xfrm>
          <a:prstGeom prst="rect">
            <a:avLst/>
          </a:prstGeom>
          <a:solidFill>
            <a:srgbClr val="2E6B4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"Brain is my enemy, speed is nonsense, leadership is not about you. Open mind is not going to stay open forever — you have to practice to open it time and again."</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2E6B4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Sandeep Agarwal</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Co-founder &amp; CEO</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Credencys Solutions</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(Data Management for Enterprises)</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(Sept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2E6B4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2E6B4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Empathy walk: breaks divides between departments, people, and organisation and customers through genuine interest.</a:t>
            </a:r>
            <a:endParaRPr lang="en-US" sz="1150" dirty="0"/>
          </a:p>
        </p:txBody>
      </p:sp>
      <p:sp>
        <p:nvSpPr>
          <p:cNvPr id="15" name="Shape 13"/>
          <p:cNvSpPr/>
          <p:nvPr/>
        </p:nvSpPr>
        <p:spPr>
          <a:xfrm>
            <a:off x="2907792" y="1362456"/>
            <a:ext cx="256032" cy="256032"/>
          </a:xfrm>
          <a:prstGeom prst="ellipse">
            <a:avLst/>
          </a:prstGeom>
          <a:solidFill>
            <a:srgbClr val="2E6B4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Stakeholder interview: nobody is even asking people what drives them — structured interviews let them reconnect with their vision.</a:t>
            </a:r>
            <a:endParaRPr lang="en-US" sz="1150" dirty="0"/>
          </a:p>
        </p:txBody>
      </p:sp>
      <p:sp>
        <p:nvSpPr>
          <p:cNvPr id="18" name="Shape 16"/>
          <p:cNvSpPr/>
          <p:nvPr/>
        </p:nvSpPr>
        <p:spPr>
          <a:xfrm>
            <a:off x="2907792" y="2139696"/>
            <a:ext cx="256032" cy="256032"/>
          </a:xfrm>
          <a:prstGeom prst="ellipse">
            <a:avLst/>
          </a:prstGeom>
          <a:solidFill>
            <a:srgbClr val="2E6B4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Dialogue structure: be a representative of all points of view without invalidating anyone — space and time, not speed.</a:t>
            </a:r>
            <a:endParaRPr lang="en-US" sz="1150" dirty="0"/>
          </a:p>
        </p:txBody>
      </p:sp>
      <p:sp>
        <p:nvSpPr>
          <p:cNvPr id="21" name="Shape 19"/>
          <p:cNvSpPr/>
          <p:nvPr/>
        </p:nvSpPr>
        <p:spPr>
          <a:xfrm>
            <a:off x="2788920" y="2926080"/>
            <a:ext cx="6199632" cy="1627632"/>
          </a:xfrm>
          <a:prstGeom prst="rect">
            <a:avLst/>
          </a:prstGeom>
          <a:solidFill>
            <a:srgbClr val="2E6B4F">
              <a:alpha val="9000"/>
            </a:srgbClr>
          </a:solidFill>
          <a:ln/>
        </p:spPr>
      </p:sp>
      <p:sp>
        <p:nvSpPr>
          <p:cNvPr id="22" name="Shape 20"/>
          <p:cNvSpPr/>
          <p:nvPr/>
        </p:nvSpPr>
        <p:spPr>
          <a:xfrm>
            <a:off x="2788920" y="2926080"/>
            <a:ext cx="50292" cy="1627632"/>
          </a:xfrm>
          <a:prstGeom prst="rect">
            <a:avLst/>
          </a:prstGeom>
          <a:solidFill>
            <a:srgbClr val="2E6B4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"Nobody is even asking stakeholders what drives them — they have even forgotten at times. A structured stakeholder interview allows people to express and reconnect with their vision."</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2E6B4F"/>
          </a:solidFill>
          <a:ln/>
        </p:spPr>
      </p:sp>
      <p:sp>
        <p:nvSpPr>
          <p:cNvPr id="3" name="Shape 1"/>
          <p:cNvSpPr/>
          <p:nvPr/>
        </p:nvSpPr>
        <p:spPr>
          <a:xfrm>
            <a:off x="182880" y="3200400"/>
            <a:ext cx="2560320" cy="2560320"/>
          </a:xfrm>
          <a:prstGeom prst="ellipse">
            <a:avLst/>
          </a:prstGeom>
          <a:solidFill>
            <a:srgbClr val="FFFFFF">
              <a:alpha val="10000"/>
            </a:srgbClr>
          </a:solidFill>
          <a:ln w="12700">
            <a:solidFill>
              <a:srgbClr val="FFFFFF"/>
            </a:solidFill>
            <a:prstDash val="solid"/>
          </a:ln>
        </p:spPr>
      </p:sp>
      <p:sp>
        <p:nvSpPr>
          <p:cNvPr id="4" name="Text 2"/>
          <p:cNvSpPr/>
          <p:nvPr/>
        </p:nvSpPr>
        <p:spPr>
          <a:xfrm>
            <a:off x="146304" y="274320"/>
            <a:ext cx="2487168" cy="1170432"/>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Sarath</a:t>
            </a:r>
            <a:endParaRPr lang="en-US" sz="1800" dirty="0"/>
          </a:p>
        </p:txBody>
      </p:sp>
      <p:sp>
        <p:nvSpPr>
          <p:cNvPr id="5" name="Shape 3"/>
          <p:cNvSpPr/>
          <p:nvPr/>
        </p:nvSpPr>
        <p:spPr>
          <a:xfrm>
            <a:off x="146304" y="1481328"/>
            <a:ext cx="2487168" cy="320040"/>
          </a:xfrm>
          <a:prstGeom prst="rect">
            <a:avLst/>
          </a:prstGeom>
          <a:solidFill>
            <a:srgbClr val="FFFFFF">
              <a:alpha val="25000"/>
            </a:srgbClr>
          </a:solidFill>
          <a:ln/>
        </p:spPr>
      </p:sp>
      <p:sp>
        <p:nvSpPr>
          <p:cNvPr id="6" name="Text 4"/>
          <p:cNvSpPr/>
          <p:nvPr/>
        </p:nvSpPr>
        <p:spPr>
          <a:xfrm>
            <a:off x="146304" y="1481328"/>
            <a:ext cx="2487168" cy="32004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Senior Manager – Admin &amp; HR</a:t>
            </a:r>
            <a:endParaRPr lang="en-US" sz="850" dirty="0"/>
          </a:p>
        </p:txBody>
      </p:sp>
      <p:sp>
        <p:nvSpPr>
          <p:cNvPr id="7" name="Text 5"/>
          <p:cNvSpPr/>
          <p:nvPr/>
        </p:nvSpPr>
        <p:spPr>
          <a:xfrm>
            <a:off x="146304" y="1856232"/>
            <a:ext cx="2487168" cy="658368"/>
          </a:xfrm>
          <a:prstGeom prst="rect">
            <a:avLst/>
          </a:prstGeom>
          <a:noFill/>
          <a:ln/>
        </p:spPr>
        <p:txBody>
          <a:bodyPr wrap="square"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AMI Polymers, Vasai</a:t>
            </a:r>
            <a:endParaRPr lang="en-US" sz="950" dirty="0"/>
          </a:p>
          <a:p>
            <a:pPr indent="0" marL="0">
              <a:buNone/>
            </a:pPr>
            <a:r>
              <a:rPr lang="en-US" sz="950" i="1" dirty="0">
                <a:solidFill>
                  <a:srgbClr val="FFFFFF"/>
                </a:solidFill>
                <a:latin typeface="Calibri" pitchFamily="34" charset="0"/>
                <a:ea typeface="Calibri" pitchFamily="34" charset="-122"/>
                <a:cs typeface="Calibri" pitchFamily="34" charset="-120"/>
              </a:rPr>
              <a:t>(Leading Mission Definition Initiative)</a:t>
            </a:r>
            <a:endParaRPr lang="en-US" sz="950" dirty="0"/>
          </a:p>
        </p:txBody>
      </p:sp>
      <p:sp>
        <p:nvSpPr>
          <p:cNvPr id="8" name="Shape 6"/>
          <p:cNvSpPr/>
          <p:nvPr/>
        </p:nvSpPr>
        <p:spPr>
          <a:xfrm>
            <a:off x="0" y="4645152"/>
            <a:ext cx="2743200" cy="498348"/>
          </a:xfrm>
          <a:prstGeom prst="rect">
            <a:avLst/>
          </a:prstGeom>
          <a:solidFill>
            <a:srgbClr val="1A1A2E"/>
          </a:solidFill>
          <a:ln/>
        </p:spPr>
      </p:sp>
      <p:sp>
        <p:nvSpPr>
          <p:cNvPr id="9" name="Text 7"/>
          <p:cNvSpPr/>
          <p:nvPr/>
        </p:nvSpPr>
        <p:spPr>
          <a:xfrm>
            <a:off x="109728" y="4645152"/>
            <a:ext cx="2578608" cy="498348"/>
          </a:xfrm>
          <a:prstGeom prst="rect">
            <a:avLst/>
          </a:prstGeom>
          <a:noFill/>
          <a:ln/>
        </p:spPr>
        <p:txBody>
          <a:bodyPr wrap="square" rtlCol="0" anchor="ctr"/>
          <a:lstStyle/>
          <a:p>
            <a:pPr indent="0" marL="0">
              <a:buNone/>
            </a:pPr>
            <a:r>
              <a:rPr lang="en-US" sz="750" b="1" dirty="0">
                <a:solidFill>
                  <a:srgbClr val="C9A84C"/>
                </a:solidFill>
                <a:latin typeface="Calibri" pitchFamily="34" charset="0"/>
                <a:ea typeface="Calibri" pitchFamily="34" charset="-122"/>
                <a:cs typeface="Calibri" pitchFamily="34" charset="-120"/>
              </a:rPr>
              <a:t>CXO – Leading from the Future (Sept 2023)</a:t>
            </a:r>
            <a:endParaRPr lang="en-US" sz="750" dirty="0"/>
          </a:p>
        </p:txBody>
      </p:sp>
      <p:sp>
        <p:nvSpPr>
          <p:cNvPr id="10" name="Shape 8"/>
          <p:cNvSpPr/>
          <p:nvPr/>
        </p:nvSpPr>
        <p:spPr>
          <a:xfrm>
            <a:off x="2743200" y="0"/>
            <a:ext cx="6400800" cy="475488"/>
          </a:xfrm>
          <a:prstGeom prst="rect">
            <a:avLst/>
          </a:prstGeom>
          <a:solidFill>
            <a:srgbClr val="EEF4F9"/>
          </a:solidFill>
          <a:ln/>
        </p:spPr>
      </p:sp>
      <p:sp>
        <p:nvSpPr>
          <p:cNvPr id="11" name="Text 9"/>
          <p:cNvSpPr/>
          <p:nvPr/>
        </p:nvSpPr>
        <p:spPr>
          <a:xfrm>
            <a:off x="2926080" y="0"/>
            <a:ext cx="6035040" cy="475488"/>
          </a:xfrm>
          <a:prstGeom prst="rect">
            <a:avLst/>
          </a:prstGeom>
          <a:noFill/>
          <a:ln/>
        </p:spPr>
        <p:txBody>
          <a:bodyPr wrap="square" rtlCol="0" anchor="ctr"/>
          <a:lstStyle/>
          <a:p>
            <a:pPr indent="0" marL="0">
              <a:buNone/>
            </a:pPr>
            <a:r>
              <a:rPr lang="en-US" sz="850" b="1" spc="250" kern="0" dirty="0">
                <a:solidFill>
                  <a:srgbClr val="2E6B4F"/>
                </a:solidFill>
                <a:latin typeface="Calibri" pitchFamily="34" charset="0"/>
                <a:ea typeface="Calibri" pitchFamily="34" charset="-122"/>
                <a:cs typeface="Calibri" pitchFamily="34" charset="-120"/>
              </a:rPr>
              <a:t>KEY TAKEAWAYS</a:t>
            </a:r>
            <a:endParaRPr lang="en-US" sz="850" dirty="0"/>
          </a:p>
        </p:txBody>
      </p:sp>
      <p:sp>
        <p:nvSpPr>
          <p:cNvPr id="12" name="Shape 10"/>
          <p:cNvSpPr/>
          <p:nvPr/>
        </p:nvSpPr>
        <p:spPr>
          <a:xfrm>
            <a:off x="2907792" y="585216"/>
            <a:ext cx="256032" cy="256032"/>
          </a:xfrm>
          <a:prstGeom prst="ellipse">
            <a:avLst/>
          </a:prstGeom>
          <a:solidFill>
            <a:srgbClr val="2E6B4F"/>
          </a:solidFill>
          <a:ln/>
        </p:spPr>
      </p:sp>
      <p:sp>
        <p:nvSpPr>
          <p:cNvPr id="13" name="Text 11"/>
          <p:cNvSpPr/>
          <p:nvPr/>
        </p:nvSpPr>
        <p:spPr>
          <a:xfrm>
            <a:off x="2907792" y="58521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4" name="Text 12"/>
          <p:cNvSpPr/>
          <p:nvPr/>
        </p:nvSpPr>
        <p:spPr>
          <a:xfrm>
            <a:off x="3273552" y="53035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Joined as part of a 5-person team from AMI Polymers to define the organisation's vision — a team initiative, not solo.</a:t>
            </a:r>
            <a:endParaRPr lang="en-US" sz="1150" dirty="0"/>
          </a:p>
        </p:txBody>
      </p:sp>
      <p:sp>
        <p:nvSpPr>
          <p:cNvPr id="15" name="Shape 13"/>
          <p:cNvSpPr/>
          <p:nvPr/>
        </p:nvSpPr>
        <p:spPr>
          <a:xfrm>
            <a:off x="2907792" y="1362456"/>
            <a:ext cx="256032" cy="256032"/>
          </a:xfrm>
          <a:prstGeom prst="ellipse">
            <a:avLst/>
          </a:prstGeom>
          <a:solidFill>
            <a:srgbClr val="2E6B4F"/>
          </a:solidFill>
          <a:ln/>
        </p:spPr>
      </p:sp>
      <p:sp>
        <p:nvSpPr>
          <p:cNvPr id="16" name="Text 14"/>
          <p:cNvSpPr/>
          <p:nvPr/>
        </p:nvSpPr>
        <p:spPr>
          <a:xfrm>
            <a:off x="2907792" y="136245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3273552" y="130759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Shock of realisation: 'we do intelligent-sounding junk' — we please the boss, and everyone in the room has the same issue.</a:t>
            </a:r>
            <a:endParaRPr lang="en-US" sz="1150" dirty="0"/>
          </a:p>
        </p:txBody>
      </p:sp>
      <p:sp>
        <p:nvSpPr>
          <p:cNvPr id="18" name="Shape 16"/>
          <p:cNvSpPr/>
          <p:nvPr/>
        </p:nvSpPr>
        <p:spPr>
          <a:xfrm>
            <a:off x="2907792" y="2139696"/>
            <a:ext cx="256032" cy="256032"/>
          </a:xfrm>
          <a:prstGeom prst="ellipse">
            <a:avLst/>
          </a:prstGeom>
          <a:solidFill>
            <a:srgbClr val="2E6B4F"/>
          </a:solidFill>
          <a:ln/>
        </p:spPr>
      </p:sp>
      <p:sp>
        <p:nvSpPr>
          <p:cNvPr id="19" name="Text 17"/>
          <p:cNvSpPr/>
          <p:nvPr/>
        </p:nvSpPr>
        <p:spPr>
          <a:xfrm>
            <a:off x="2907792" y="2139696"/>
            <a:ext cx="25603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0" name="Text 18"/>
          <p:cNvSpPr/>
          <p:nvPr/>
        </p:nvSpPr>
        <p:spPr>
          <a:xfrm>
            <a:off x="3273552" y="2084832"/>
            <a:ext cx="5650992" cy="658368"/>
          </a:xfrm>
          <a:prstGeom prst="rect">
            <a:avLst/>
          </a:prstGeom>
          <a:noFill/>
          <a:ln/>
        </p:spPr>
        <p:txBody>
          <a:bodyPr wrap="square"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Moved from learning stage to realisation stage: from today, how exactly it should be done — and we need a core team.</a:t>
            </a:r>
            <a:endParaRPr lang="en-US" sz="1150" dirty="0"/>
          </a:p>
        </p:txBody>
      </p:sp>
      <p:sp>
        <p:nvSpPr>
          <p:cNvPr id="21" name="Shape 19"/>
          <p:cNvSpPr/>
          <p:nvPr/>
        </p:nvSpPr>
        <p:spPr>
          <a:xfrm>
            <a:off x="2788920" y="2926080"/>
            <a:ext cx="6199632" cy="1627632"/>
          </a:xfrm>
          <a:prstGeom prst="rect">
            <a:avLst/>
          </a:prstGeom>
          <a:solidFill>
            <a:srgbClr val="2E6B4F">
              <a:alpha val="9000"/>
            </a:srgbClr>
          </a:solidFill>
          <a:ln/>
        </p:spPr>
      </p:sp>
      <p:sp>
        <p:nvSpPr>
          <p:cNvPr id="22" name="Shape 20"/>
          <p:cNvSpPr/>
          <p:nvPr/>
        </p:nvSpPr>
        <p:spPr>
          <a:xfrm>
            <a:off x="2788920" y="2926080"/>
            <a:ext cx="50292" cy="1627632"/>
          </a:xfrm>
          <a:prstGeom prst="rect">
            <a:avLst/>
          </a:prstGeom>
          <a:solidFill>
            <a:srgbClr val="2E6B4F"/>
          </a:solidFill>
          <a:ln/>
        </p:spPr>
      </p:sp>
      <p:sp>
        <p:nvSpPr>
          <p:cNvPr id="23" name="Text 21"/>
          <p:cNvSpPr/>
          <p:nvPr/>
        </p:nvSpPr>
        <p:spPr>
          <a:xfrm>
            <a:off x="2944368" y="3017520"/>
            <a:ext cx="5943600" cy="1444752"/>
          </a:xfrm>
          <a:prstGeom prst="rect">
            <a:avLst/>
          </a:prstGeom>
          <a:noFill/>
          <a:ln/>
        </p:spPr>
        <p:txBody>
          <a:bodyPr wrap="square" rtlCol="0" anchor="ctr"/>
          <a:lstStyle/>
          <a:p>
            <a:pPr indent="0" marL="0">
              <a:buNone/>
            </a:pPr>
            <a:r>
              <a:rPr lang="en-US" sz="1000" i="1" dirty="0">
                <a:solidFill>
                  <a:srgbClr val="1A1A2E"/>
                </a:solidFill>
                <a:latin typeface="Georgia" pitchFamily="34" charset="0"/>
                <a:ea typeface="Georgia" pitchFamily="34" charset="-122"/>
                <a:cs typeface="Georgia" pitchFamily="34" charset="-120"/>
              </a:rPr>
              <a:t>"It was very shocking to understand that this is actually how it's going — and everyone in this room has the same issue. It's not just my problem. This is a realization stage, not just a learning stage."</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2E6B4F"/>
          </a:solidFill>
          <a:ln/>
        </p:spPr>
      </p:sp>
      <p:sp>
        <p:nvSpPr>
          <p:cNvPr id="3" name="Text 1"/>
          <p:cNvSpPr/>
          <p:nvPr/>
        </p:nvSpPr>
        <p:spPr>
          <a:xfrm>
            <a:off x="320040" y="0"/>
            <a:ext cx="7772400" cy="59436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CXO 2023 — Additional Participant Voices (Sept 2023)</a:t>
            </a:r>
            <a:endParaRPr lang="en-US" sz="1500" dirty="0"/>
          </a:p>
        </p:txBody>
      </p:sp>
      <p:sp>
        <p:nvSpPr>
          <p:cNvPr id="4" name="Text 2"/>
          <p:cNvSpPr/>
          <p:nvPr/>
        </p:nvSpPr>
        <p:spPr>
          <a:xfrm>
            <a:off x="320040" y="658368"/>
            <a:ext cx="8503920" cy="329184"/>
          </a:xfrm>
          <a:prstGeom prst="rect">
            <a:avLst/>
          </a:prstGeom>
          <a:noFill/>
          <a:ln/>
        </p:spPr>
        <p:txBody>
          <a:bodyPr wrap="square" rtlCol="0" anchor="ctr"/>
          <a:lstStyle/>
          <a:p>
            <a:pPr indent="0" marL="0">
              <a:buNone/>
            </a:pPr>
            <a:r>
              <a:rPr lang="en-US" sz="1100" i="1" dirty="0">
                <a:solidFill>
                  <a:srgbClr val="2E6B4F"/>
                </a:solidFill>
                <a:latin typeface="Calibri" pitchFamily="34" charset="0"/>
                <a:ea typeface="Calibri" pitchFamily="34" charset="-122"/>
                <a:cs typeface="Calibri" pitchFamily="34" charset="-120"/>
              </a:rPr>
              <a:t>More participants sharing their key learnings from the September 2023 CXO Workshop</a:t>
            </a:r>
            <a:endParaRPr lang="en-US" sz="1100" dirty="0"/>
          </a:p>
        </p:txBody>
      </p:sp>
      <p:sp>
        <p:nvSpPr>
          <p:cNvPr id="5" name="Shape 3"/>
          <p:cNvSpPr/>
          <p:nvPr/>
        </p:nvSpPr>
        <p:spPr>
          <a:xfrm>
            <a:off x="0" y="1024128"/>
            <a:ext cx="9144000" cy="36576"/>
          </a:xfrm>
          <a:prstGeom prst="rect">
            <a:avLst/>
          </a:prstGeom>
          <a:solidFill>
            <a:srgbClr val="EEF4F9"/>
          </a:solidFill>
          <a:ln/>
        </p:spPr>
      </p:sp>
      <p:sp>
        <p:nvSpPr>
          <p:cNvPr id="6" name="Shape 4"/>
          <p:cNvSpPr/>
          <p:nvPr/>
        </p:nvSpPr>
        <p:spPr>
          <a:xfrm>
            <a:off x="274320" y="1115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7" name="Shape 5"/>
          <p:cNvSpPr/>
          <p:nvPr/>
        </p:nvSpPr>
        <p:spPr>
          <a:xfrm>
            <a:off x="274320" y="1115568"/>
            <a:ext cx="73152" cy="1005840"/>
          </a:xfrm>
          <a:prstGeom prst="rect">
            <a:avLst/>
          </a:prstGeom>
          <a:solidFill>
            <a:srgbClr val="2E6B4F"/>
          </a:solidFill>
          <a:ln/>
        </p:spPr>
      </p:sp>
      <p:sp>
        <p:nvSpPr>
          <p:cNvPr id="8" name="Text 6"/>
          <p:cNvSpPr/>
          <p:nvPr/>
        </p:nvSpPr>
        <p:spPr>
          <a:xfrm>
            <a:off x="457200" y="1179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Educator from Thailand</a:t>
            </a:r>
            <a:endParaRPr lang="en-US" sz="1100" dirty="0"/>
          </a:p>
        </p:txBody>
      </p:sp>
      <p:sp>
        <p:nvSpPr>
          <p:cNvPr id="9" name="Text 7"/>
          <p:cNvSpPr/>
          <p:nvPr/>
        </p:nvSpPr>
        <p:spPr>
          <a:xfrm>
            <a:off x="457200" y="1463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Attended to learn tools for transforming schools — nurturing the potential of every student. Left with new thinking from cross-industry interactions. Cross-pollination of perspectives was invaluable.</a:t>
            </a:r>
            <a:endParaRPr lang="en-US" sz="950" dirty="0"/>
          </a:p>
        </p:txBody>
      </p:sp>
      <p:sp>
        <p:nvSpPr>
          <p:cNvPr id="10" name="Shape 8"/>
          <p:cNvSpPr/>
          <p:nvPr/>
        </p:nvSpPr>
        <p:spPr>
          <a:xfrm>
            <a:off x="4709160" y="1115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1" name="Shape 9"/>
          <p:cNvSpPr/>
          <p:nvPr/>
        </p:nvSpPr>
        <p:spPr>
          <a:xfrm>
            <a:off x="4709160" y="1115568"/>
            <a:ext cx="73152" cy="1005840"/>
          </a:xfrm>
          <a:prstGeom prst="rect">
            <a:avLst/>
          </a:prstGeom>
          <a:solidFill>
            <a:srgbClr val="2E6B4F"/>
          </a:solidFill>
          <a:ln/>
        </p:spPr>
      </p:sp>
      <p:sp>
        <p:nvSpPr>
          <p:cNvPr id="12" name="Text 10"/>
          <p:cNvSpPr/>
          <p:nvPr/>
        </p:nvSpPr>
        <p:spPr>
          <a:xfrm>
            <a:off x="4892040" y="1179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Symptoms → Structure → Source</a:t>
            </a:r>
            <a:endParaRPr lang="en-US" sz="1100" dirty="0"/>
          </a:p>
        </p:txBody>
      </p:sp>
      <p:sp>
        <p:nvSpPr>
          <p:cNvPr id="13" name="Text 11"/>
          <p:cNvSpPr/>
          <p:nvPr/>
        </p:nvSpPr>
        <p:spPr>
          <a:xfrm>
            <a:off x="4892040" y="1463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Key learning: stop solving at symptom level. Problems exist at the structure level. Empathy walk and stakeholder interview must become a regular habit — not a one-time act.</a:t>
            </a:r>
            <a:endParaRPr lang="en-US" sz="950" dirty="0"/>
          </a:p>
        </p:txBody>
      </p:sp>
      <p:sp>
        <p:nvSpPr>
          <p:cNvPr id="14" name="Shape 12"/>
          <p:cNvSpPr/>
          <p:nvPr/>
        </p:nvSpPr>
        <p:spPr>
          <a:xfrm>
            <a:off x="274320" y="2258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5" name="Shape 13"/>
          <p:cNvSpPr/>
          <p:nvPr/>
        </p:nvSpPr>
        <p:spPr>
          <a:xfrm>
            <a:off x="274320" y="2258568"/>
            <a:ext cx="73152" cy="1005840"/>
          </a:xfrm>
          <a:prstGeom prst="rect">
            <a:avLst/>
          </a:prstGeom>
          <a:solidFill>
            <a:srgbClr val="2E6B4F"/>
          </a:solidFill>
          <a:ln/>
        </p:spPr>
      </p:sp>
      <p:sp>
        <p:nvSpPr>
          <p:cNvPr id="16" name="Text 14"/>
          <p:cNvSpPr/>
          <p:nvPr/>
        </p:nvSpPr>
        <p:spPr>
          <a:xfrm>
            <a:off x="457200" y="2322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Intelligent Sounding Junk</a:t>
            </a:r>
            <a:endParaRPr lang="en-US" sz="1100" dirty="0"/>
          </a:p>
        </p:txBody>
      </p:sp>
      <p:sp>
        <p:nvSpPr>
          <p:cNvPr id="17" name="Text 15"/>
          <p:cNvSpPr/>
          <p:nvPr/>
        </p:nvSpPr>
        <p:spPr>
          <a:xfrm>
            <a:off x="457200" y="2606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'We do intelligent sounding junk' — the realisation that organisations are designed to please the boss, not to bring out the best in people. This insight struck the deepest.</a:t>
            </a:r>
            <a:endParaRPr lang="en-US" sz="950" dirty="0"/>
          </a:p>
        </p:txBody>
      </p:sp>
      <p:sp>
        <p:nvSpPr>
          <p:cNvPr id="18" name="Shape 16"/>
          <p:cNvSpPr/>
          <p:nvPr/>
        </p:nvSpPr>
        <p:spPr>
          <a:xfrm>
            <a:off x="4709160" y="2258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19" name="Shape 17"/>
          <p:cNvSpPr/>
          <p:nvPr/>
        </p:nvSpPr>
        <p:spPr>
          <a:xfrm>
            <a:off x="4709160" y="2258568"/>
            <a:ext cx="73152" cy="1005840"/>
          </a:xfrm>
          <a:prstGeom prst="rect">
            <a:avLst/>
          </a:prstGeom>
          <a:solidFill>
            <a:srgbClr val="2E6B4F"/>
          </a:solidFill>
          <a:ln/>
        </p:spPr>
      </p:sp>
      <p:sp>
        <p:nvSpPr>
          <p:cNvPr id="20" name="Text 18"/>
          <p:cNvSpPr/>
          <p:nvPr/>
        </p:nvSpPr>
        <p:spPr>
          <a:xfrm>
            <a:off x="4892040" y="2322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Overcoming Fear</a:t>
            </a:r>
            <a:endParaRPr lang="en-US" sz="1100" dirty="0"/>
          </a:p>
        </p:txBody>
      </p:sp>
      <p:sp>
        <p:nvSpPr>
          <p:cNvPr id="21" name="Text 19"/>
          <p:cNvSpPr/>
          <p:nvPr/>
        </p:nvSpPr>
        <p:spPr>
          <a:xfrm>
            <a:off x="4892040" y="2606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In fear of sharing data with the team. Learning: share data widely so the team can create wonders out of it. Fear of being the only woman in the room — faced and addressed in two days.</a:t>
            </a:r>
            <a:endParaRPr lang="en-US" sz="950" dirty="0"/>
          </a:p>
        </p:txBody>
      </p:sp>
      <p:sp>
        <p:nvSpPr>
          <p:cNvPr id="22" name="Shape 20"/>
          <p:cNvSpPr/>
          <p:nvPr/>
        </p:nvSpPr>
        <p:spPr>
          <a:xfrm>
            <a:off x="274320" y="3401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23" name="Shape 21"/>
          <p:cNvSpPr/>
          <p:nvPr/>
        </p:nvSpPr>
        <p:spPr>
          <a:xfrm>
            <a:off x="274320" y="3401568"/>
            <a:ext cx="73152" cy="1005840"/>
          </a:xfrm>
          <a:prstGeom prst="rect">
            <a:avLst/>
          </a:prstGeom>
          <a:solidFill>
            <a:srgbClr val="2E6B4F"/>
          </a:solidFill>
          <a:ln/>
        </p:spPr>
      </p:sp>
      <p:sp>
        <p:nvSpPr>
          <p:cNvPr id="24" name="Text 22"/>
          <p:cNvSpPr/>
          <p:nvPr/>
        </p:nvSpPr>
        <p:spPr>
          <a:xfrm>
            <a:off x="457200" y="3465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Dialogue Over Talk-Nice</a:t>
            </a:r>
            <a:endParaRPr lang="en-US" sz="1100" dirty="0"/>
          </a:p>
        </p:txBody>
      </p:sp>
      <p:sp>
        <p:nvSpPr>
          <p:cNvPr id="25" name="Text 23"/>
          <p:cNvSpPr/>
          <p:nvPr/>
        </p:nvSpPr>
        <p:spPr>
          <a:xfrm>
            <a:off x="457200" y="3749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90% of organisations talk nice. 10% talk tough. Neither works. The answer is dialogue — where all stakeholders listen to each other with genuine interest in a structured, unhurried way.</a:t>
            </a:r>
            <a:endParaRPr lang="en-US" sz="950" dirty="0"/>
          </a:p>
        </p:txBody>
      </p:sp>
      <p:sp>
        <p:nvSpPr>
          <p:cNvPr id="26" name="Shape 24"/>
          <p:cNvSpPr/>
          <p:nvPr/>
        </p:nvSpPr>
        <p:spPr>
          <a:xfrm>
            <a:off x="4709160" y="3401568"/>
            <a:ext cx="4206240" cy="1005840"/>
          </a:xfrm>
          <a:prstGeom prst="rect">
            <a:avLst/>
          </a:prstGeom>
          <a:solidFill>
            <a:srgbClr val="EEF4F9"/>
          </a:solidFill>
          <a:ln/>
          <a:effectLst>
            <a:outerShdw sx="100000" sy="100000" kx="0" ky="0" algn="bl" rotWithShape="0" blurRad="101600" dist="38100" dir="8100000">
              <a:srgbClr val="000000">
                <a:alpha val="12000"/>
              </a:srgbClr>
            </a:outerShdw>
          </a:effectLst>
        </p:spPr>
      </p:sp>
      <p:sp>
        <p:nvSpPr>
          <p:cNvPr id="27" name="Shape 25"/>
          <p:cNvSpPr/>
          <p:nvPr/>
        </p:nvSpPr>
        <p:spPr>
          <a:xfrm>
            <a:off x="4709160" y="3401568"/>
            <a:ext cx="73152" cy="1005840"/>
          </a:xfrm>
          <a:prstGeom prst="rect">
            <a:avLst/>
          </a:prstGeom>
          <a:solidFill>
            <a:srgbClr val="2E6B4F"/>
          </a:solidFill>
          <a:ln/>
        </p:spPr>
      </p:sp>
      <p:sp>
        <p:nvSpPr>
          <p:cNvPr id="28" name="Text 26"/>
          <p:cNvSpPr/>
          <p:nvPr/>
        </p:nvSpPr>
        <p:spPr>
          <a:xfrm>
            <a:off x="4892040" y="3465576"/>
            <a:ext cx="3913632" cy="274320"/>
          </a:xfrm>
          <a:prstGeom prst="rect">
            <a:avLst/>
          </a:prstGeom>
          <a:noFill/>
          <a:ln/>
        </p:spPr>
        <p:txBody>
          <a:bodyPr wrap="square" rtlCol="0" anchor="ctr"/>
          <a:lstStyle/>
          <a:p>
            <a:pPr indent="0" marL="0">
              <a:buNone/>
            </a:pPr>
            <a:r>
              <a:rPr lang="en-US" sz="1100" b="1" dirty="0">
                <a:solidFill>
                  <a:srgbClr val="1B2C5E"/>
                </a:solidFill>
                <a:latin typeface="Calibri" pitchFamily="34" charset="0"/>
                <a:ea typeface="Calibri" pitchFamily="34" charset="-122"/>
                <a:cs typeface="Calibri" pitchFamily="34" charset="-120"/>
              </a:rPr>
              <a:t>Participant — Empathy Walk &amp; Divides</a:t>
            </a:r>
            <a:endParaRPr lang="en-US" sz="1100" dirty="0"/>
          </a:p>
        </p:txBody>
      </p:sp>
      <p:sp>
        <p:nvSpPr>
          <p:cNvPr id="29" name="Text 27"/>
          <p:cNvSpPr/>
          <p:nvPr/>
        </p:nvSpPr>
        <p:spPr>
          <a:xfrm>
            <a:off x="4892040" y="3749040"/>
            <a:ext cx="3913632" cy="594360"/>
          </a:xfrm>
          <a:prstGeom prst="rect">
            <a:avLst/>
          </a:prstGeom>
          <a:noFill/>
          <a:ln/>
        </p:spPr>
        <p:txBody>
          <a:bodyPr wrap="square" rtlCol="0" anchor="ctr"/>
          <a:lstStyle/>
          <a:p>
            <a:pPr indent="0" marL="0">
              <a:buNone/>
            </a:pPr>
            <a:r>
              <a:rPr lang="en-US" sz="950" dirty="0">
                <a:solidFill>
                  <a:srgbClr val="1A1A2E"/>
                </a:solidFill>
                <a:latin typeface="Calibri" pitchFamily="34" charset="0"/>
                <a:ea typeface="Calibri" pitchFamily="34" charset="-122"/>
                <a:cs typeface="Calibri" pitchFamily="34" charset="-120"/>
              </a:rPr>
              <a:t>Three major divides (eco, social, spiritual). Empathy walk enables real connection across organisational divides. Stakeholder interviews help people reconnect with what truly drives them.</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B2C5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p:spPr>
      </p:sp>
      <p:sp>
        <p:nvSpPr>
          <p:cNvPr id="3" name="Shape 1"/>
          <p:cNvSpPr/>
          <p:nvPr/>
        </p:nvSpPr>
        <p:spPr>
          <a:xfrm>
            <a:off x="0" y="5070348"/>
            <a:ext cx="9144000" cy="73152"/>
          </a:xfrm>
          <a:prstGeom prst="rect">
            <a:avLst/>
          </a:prstGeom>
          <a:solidFill>
            <a:srgbClr val="C9A84C"/>
          </a:solidFill>
          <a:ln/>
        </p:spPr>
      </p:sp>
      <p:sp>
        <p:nvSpPr>
          <p:cNvPr id="4" name="Shape 2"/>
          <p:cNvSpPr/>
          <p:nvPr/>
        </p:nvSpPr>
        <p:spPr>
          <a:xfrm>
            <a:off x="-1097280" y="914400"/>
            <a:ext cx="3840480" cy="3840480"/>
          </a:xfrm>
          <a:prstGeom prst="ellipse">
            <a:avLst/>
          </a:prstGeom>
          <a:solidFill>
            <a:srgbClr val="0A7EA4">
              <a:alpha val="12000"/>
            </a:srgbClr>
          </a:solidFill>
          <a:ln w="12700">
            <a:solidFill>
              <a:srgbClr val="0A7EA4"/>
            </a:solidFill>
            <a:prstDash val="solid"/>
          </a:ln>
        </p:spPr>
      </p:sp>
      <p:sp>
        <p:nvSpPr>
          <p:cNvPr id="5" name="Shape 3"/>
          <p:cNvSpPr/>
          <p:nvPr/>
        </p:nvSpPr>
        <p:spPr>
          <a:xfrm>
            <a:off x="7132320" y="2011680"/>
            <a:ext cx="2926080" cy="2926080"/>
          </a:xfrm>
          <a:prstGeom prst="ellipse">
            <a:avLst/>
          </a:prstGeom>
          <a:solidFill>
            <a:srgbClr val="C9A84C">
              <a:alpha val="13000"/>
            </a:srgbClr>
          </a:solidFill>
          <a:ln w="12700">
            <a:solidFill>
              <a:srgbClr val="C9A84C"/>
            </a:solidFill>
            <a:prstDash val="solid"/>
          </a:ln>
        </p:spPr>
      </p:sp>
      <p:sp>
        <p:nvSpPr>
          <p:cNvPr id="6" name="Text 4"/>
          <p:cNvSpPr/>
          <p:nvPr/>
        </p:nvSpPr>
        <p:spPr>
          <a:xfrm>
            <a:off x="914400" y="822960"/>
            <a:ext cx="7315200" cy="2103120"/>
          </a:xfrm>
          <a:prstGeom prst="rect">
            <a:avLst/>
          </a:prstGeom>
          <a:noFill/>
          <a:ln/>
        </p:spPr>
        <p:txBody>
          <a:bodyPr wrap="square" rtlCol="0" anchor="ctr"/>
          <a:lstStyle/>
          <a:p>
            <a:pPr algn="ctr" indent="0" marL="0">
              <a:lnSpc>
                <a:spcPct val="120000"/>
              </a:lnSpc>
              <a:buNone/>
            </a:pPr>
            <a:r>
              <a:rPr lang="en-US" sz="3800" b="1" dirty="0">
                <a:solidFill>
                  <a:srgbClr val="FFFFFF"/>
                </a:solidFill>
                <a:latin typeface="Georgia" pitchFamily="34" charset="0"/>
                <a:ea typeface="Georgia" pitchFamily="34" charset="-122"/>
                <a:cs typeface="Georgia" pitchFamily="34" charset="-120"/>
              </a:rPr>
              <a:t>One Program.</a:t>
            </a:r>
            <a:endParaRPr lang="en-US" sz="3800" dirty="0"/>
          </a:p>
          <a:p>
            <a:pPr algn="ctr" indent="0" marL="0">
              <a:lnSpc>
                <a:spcPct val="120000"/>
              </a:lnSpc>
              <a:buNone/>
            </a:pPr>
            <a:r>
              <a:rPr lang="en-US" sz="3800" b="1" dirty="0">
                <a:solidFill>
                  <a:srgbClr val="FFFFFF"/>
                </a:solidFill>
                <a:latin typeface="Georgia" pitchFamily="34" charset="0"/>
                <a:ea typeface="Georgia" pitchFamily="34" charset="-122"/>
                <a:cs typeface="Georgia" pitchFamily="34" charset="-120"/>
              </a:rPr>
              <a:t>Countless Lives Changed.</a:t>
            </a:r>
            <a:endParaRPr lang="en-US" sz="3800" dirty="0"/>
          </a:p>
        </p:txBody>
      </p:sp>
      <p:sp>
        <p:nvSpPr>
          <p:cNvPr id="7" name="Text 5"/>
          <p:cNvSpPr/>
          <p:nvPr/>
        </p:nvSpPr>
        <p:spPr>
          <a:xfrm>
            <a:off x="914400" y="2999232"/>
            <a:ext cx="7315200" cy="804672"/>
          </a:xfrm>
          <a:prstGeom prst="rect">
            <a:avLst/>
          </a:prstGeom>
          <a:noFill/>
          <a:ln/>
        </p:spPr>
        <p:txBody>
          <a:bodyPr wrap="square" rtlCol="0" anchor="ctr"/>
          <a:lstStyle/>
          <a:p>
            <a:pPr algn="ctr" indent="0" marL="0">
              <a:lnSpc>
                <a:spcPct val="140000"/>
              </a:lnSpc>
              <a:buNone/>
            </a:pPr>
            <a:r>
              <a:rPr lang="en-US" sz="1300" dirty="0">
                <a:solidFill>
                  <a:srgbClr val="6B7A99"/>
                </a:solidFill>
                <a:latin typeface="Calibri" pitchFamily="34" charset="0"/>
                <a:ea typeface="Calibri" pitchFamily="34" charset="-122"/>
                <a:cs typeface="Calibri" pitchFamily="34" charset="-120"/>
              </a:rPr>
              <a:t>From ego to eco. From downloading to deep listening.</a:t>
            </a:r>
            <a:endParaRPr lang="en-US" sz="1300" dirty="0"/>
          </a:p>
          <a:p>
            <a:pPr algn="ctr" indent="0" marL="0">
              <a:lnSpc>
                <a:spcPct val="140000"/>
              </a:lnSpc>
              <a:buNone/>
            </a:pPr>
            <a:r>
              <a:rPr lang="en-US" sz="1300" dirty="0">
                <a:solidFill>
                  <a:srgbClr val="6B7A99"/>
                </a:solidFill>
                <a:latin typeface="Calibri" pitchFamily="34" charset="0"/>
                <a:ea typeface="Calibri" pitchFamily="34" charset="-122"/>
                <a:cs typeface="Calibri" pitchFamily="34" charset="-120"/>
              </a:rPr>
              <a:t>From symptom to source. From small self to highest self.</a:t>
            </a:r>
            <a:endParaRPr lang="en-US" sz="1300" dirty="0"/>
          </a:p>
        </p:txBody>
      </p:sp>
      <p:sp>
        <p:nvSpPr>
          <p:cNvPr id="8" name="Shape 6"/>
          <p:cNvSpPr/>
          <p:nvPr/>
        </p:nvSpPr>
        <p:spPr>
          <a:xfrm>
            <a:off x="3200400" y="3931920"/>
            <a:ext cx="2743200" cy="54864"/>
          </a:xfrm>
          <a:prstGeom prst="rect">
            <a:avLst/>
          </a:prstGeom>
          <a:solidFill>
            <a:srgbClr val="C9A84C"/>
          </a:solidFill>
          <a:ln/>
        </p:spPr>
      </p:sp>
      <p:sp>
        <p:nvSpPr>
          <p:cNvPr id="9" name="Text 7"/>
          <p:cNvSpPr/>
          <p:nvPr/>
        </p:nvSpPr>
        <p:spPr>
          <a:xfrm>
            <a:off x="731520" y="4133088"/>
            <a:ext cx="7680960" cy="411480"/>
          </a:xfrm>
          <a:prstGeom prst="rect">
            <a:avLst/>
          </a:prstGeom>
          <a:noFill/>
          <a:ln/>
        </p:spPr>
        <p:txBody>
          <a:bodyPr wrap="square" rtlCol="0" anchor="ctr"/>
          <a:lstStyle/>
          <a:p>
            <a:pPr algn="ctr" indent="0" marL="0">
              <a:buNone/>
            </a:pPr>
            <a:r>
              <a:rPr lang="en-US" sz="1050" b="1" spc="120" kern="0" dirty="0">
                <a:solidFill>
                  <a:srgbClr val="C9A84C"/>
                </a:solidFill>
                <a:latin typeface="Calibri" pitchFamily="34" charset="0"/>
                <a:ea typeface="Calibri" pitchFamily="34" charset="-122"/>
                <a:cs typeface="Calibri" pitchFamily="34" charset="-120"/>
              </a:rPr>
              <a:t>LFEF  •  Leadership from the Emerging Future  •  Dr. Manoj Onkar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LFEF – All Participant Voices (Combined)</dc:title>
  <dc:subject>PptxGenJS Presentation</dc:subject>
  <dc:creator>PptxGenJS</dc:creator>
  <cp:lastModifiedBy>PptxGenJS</cp:lastModifiedBy>
  <cp:revision>1</cp:revision>
  <dcterms:created xsi:type="dcterms:W3CDTF">2026-04-09T08:50:22Z</dcterms:created>
  <dcterms:modified xsi:type="dcterms:W3CDTF">2026-04-09T08:50:22Z</dcterms:modified>
</cp:coreProperties>
</file>